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Kaan | Timing: 30s (Cumulative: 00:30 / 12:00)</a:t>
            </a:r>
          </a:p>
          <a:p/>
          <a:p>
            <a:r>
              <a:t>[Stage Directions]</a:t>
            </a:r>
          </a:p>
          <a:p>
            <a:r>
              <a:t>Brief optional pause.</a:t>
            </a:r>
          </a:p>
          <a:p/>
          <a:p>
            <a:r>
              <a:t>[Spoken Script]</a:t>
            </a:r>
          </a:p>
          <a:p>
            <a:r>
              <a:t>Hi, I’m Kaan, and this is Caner. Today we’ll look at how we recognize brands without their names. Sometimes a color, a shape, or a package is enough. In daily life, we rarely read every logo on a shelf. Instead, we spot familiar bottles and colors. We’ll explore four famous examples to see how this works.</a:t>
            </a:r>
          </a:p>
          <a:p/>
          <a:p>
            <a:r>
              <a:t>[Citations &amp; References]</a:t>
            </a:r>
          </a:p>
          <a:p>
            <a:r>
              <a:t>- [S1] Evidence concerning the importance of perceived brand differentiation (Australasian Marketing Journal / Ehrenberg-Bass Institute for Marketing Science): https://assets.marketingscience.info/different.pdf</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Kaan | Timing: 45s (Cumulative: 01:15 / 12:00)</a:t>
            </a:r>
          </a:p>
          <a:p/>
          <a:p>
            <a:r>
              <a:t>[Stage Directions]</a:t>
            </a:r>
          </a:p>
          <a:p>
            <a:r>
              <a:t>Brief optional pause.</a:t>
            </a:r>
          </a:p>
          <a:p/>
          <a:p>
            <a:r>
              <a:t>[Spoken Script]</a:t>
            </a:r>
          </a:p>
          <a:p>
            <a:r>
              <a:t>Let’s start with a quick quiz. Here are four plain colors: red, yellow, turquoise, and blue. There are no names and no shapes here. Color alone is not always enough to identify a brand. Many different companies share red or blue. Without a shape or context, not everyone will recognize them.</a:t>
            </a:r>
          </a:p>
          <a:p/>
          <a:p>
            <a:r>
              <a:t>[Citations &amp; References]</a:t>
            </a:r>
          </a:p>
          <a:p>
            <a:r>
              <a:t>- [S1] Evidence concerning the importance of perceived brand differentiation (Australasian Marketing Journal / Ehrenberg-Bass Institute for Marketing Science): https://assets.marketingscience.info/different.pdf</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Kaan | Timing: 45s (Cumulative: 02:00 / 12:00)</a:t>
            </a:r>
          </a:p>
          <a:p/>
          <a:p>
            <a:r>
              <a:t>[Stage Directions]</a:t>
            </a:r>
          </a:p>
          <a:p>
            <a:r>
              <a:t>Brief optional pause.</a:t>
            </a:r>
          </a:p>
          <a:p/>
          <a:p>
            <a:r>
              <a:t>[Spoken Script]</a:t>
            </a:r>
          </a:p>
          <a:p>
            <a:r>
              <a:t>Now look at these new clues. Here is a black bottle silhouette, plus packaging textures from three items. We see fry packaging, a gift box, and a bag. Adding a physical shape changes everything. Shape turns a plain color into a real product. The choices become much clearer right away.</a:t>
            </a:r>
          </a:p>
          <a:p/>
          <a:p>
            <a:r>
              <a:t>[Citations &amp; References]</a:t>
            </a:r>
          </a:p>
          <a:p>
            <a:r>
              <a:t>- [S1] Evidence concerning the importance of perceived brand differentiation (Australasian Marketing Journal / Ehrenberg-Bass Institute for Marketing Science): https://assets.marketingscience.info/different.pdf</a:t>
            </a:r>
          </a:p>
          <a:p>
            <a:r>
              <a:t>- [S2] Q&amp;A: Seven Costly Sins of Brand Identity (Ehrenberg-Bass Institute for Marketing Science): https://assets.marketingscience.info/Brand-Identity-QA.pdf</a:t>
            </a:r>
          </a:p>
          <a:p/>
          <a:p>
            <a:r>
              <a:t>[Image Credits &amp; Permissions]</a:t>
            </a:r>
          </a:p>
          <a:p>
            <a:r>
              <a:t>- Coca-Cola Classic Contour Glass Bottle | Creator: Ralf Roletschek | License: Public domain | Source: https://commons.wikimedia.org/wiki/File:15-09-26-RalfR-WLC-0098_-_Coca-Cola_glass_bottle_(Germany).jpg</a:t>
            </a:r>
          </a:p>
          <a:p>
            <a:r>
              <a:t>- McDonald's French Fries in Red Carton | Creator: Filippos Fragkogiannis | License: CC BY-SA 4.0 | Source: https://commons.wikimedia.org/wiki/File:McDonald%27s_French_Fries_(2024).jpg</a:t>
            </a:r>
          </a:p>
          <a:p>
            <a:r>
              <a:t>- Tiffany &amp; Co. Blue Gift Box with Ribbon Bow | Creator: Adriana Górak | License: CC BY-SA 3.0 | Source: https://commons.wikimedia.org/wiki/File:Tiffany_blue_box_1.jpg</a:t>
            </a:r>
          </a:p>
          <a:p>
            <a:r>
              <a:t>- IKEA Blue FRAKTA Shopping Bag | Creator: Andrea014 | License: CC BY-SA 3.0 de | Source: https://commons.wikimedia.org/wiki/File:IKEA-Tasche.JPG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Kaan | Timing: 30s (Cumulative: 02:30 / 12:00)</a:t>
            </a:r>
          </a:p>
          <a:p/>
          <a:p>
            <a:r>
              <a:t>[Stage Directions]</a:t>
            </a:r>
          </a:p>
          <a:p>
            <a:r>
              <a:t>Brief optional pause.</a:t>
            </a:r>
          </a:p>
          <a:p/>
          <a:p>
            <a:r>
              <a:t>[Spoken Script]</a:t>
            </a:r>
          </a:p>
          <a:p>
            <a:r>
              <a:t>Here is the reveal: Coca-Cola, McDonald’s, Tiffany, and IKEA. We did not know these brands from birth. Instead, we learned them by seeing them again and again. We spot them in shops, ads, and street signs. Over time, a familiar shape becomes an easy shortcut. That is how these brands stick in our memory.</a:t>
            </a:r>
          </a:p>
          <a:p/>
          <a:p>
            <a:r>
              <a:t>[Citations &amp; References]</a:t>
            </a:r>
          </a:p>
          <a:p>
            <a:r>
              <a:t>- [S1] Evidence concerning the importance of perceived brand differentiation (Australasian Marketing Journal / Ehrenberg-Bass Institute for Marketing Science): https://assets.marketingscience.info/different.pdf</a:t>
            </a:r>
          </a:p>
          <a:p>
            <a:r>
              <a:t>- [S2] Q&amp;A: Seven Costly Sins of Brand Identity (Ehrenberg-Bass Institute for Marketing Science): https://assets.marketingscience.info/Brand-Identity-QA.pdf</a:t>
            </a:r>
          </a:p>
          <a:p/>
          <a:p>
            <a:r>
              <a:t>[Image Credits &amp; Permissions]</a:t>
            </a:r>
          </a:p>
          <a:p>
            <a:r>
              <a:t>- Coca-Cola Classic Contour Glass Bottle | Creator: Ralf Roletschek | License: Public domain | Source: https://commons.wikimedia.org/wiki/File:15-09-26-RalfR-WLC-0098_-_Coca-Cola_glass_bottle_(Germany).jpg</a:t>
            </a:r>
          </a:p>
          <a:p>
            <a:r>
              <a:t>- McDonald's French Fries in Red Carton | Creator: Filippos Fragkogiannis | License: CC BY-SA 4.0 | Source: https://commons.wikimedia.org/wiki/File:McDonald%27s_French_Fries_(2024).jpg</a:t>
            </a:r>
          </a:p>
          <a:p>
            <a:r>
              <a:t>- Tiffany &amp; Co. Blue Gift Box with Ribbon Bow | Creator: Adriana Górak | License: CC BY-SA 3.0 | Source: https://commons.wikimedia.org/wiki/File:Tiffany_blue_box_1.jpg</a:t>
            </a:r>
          </a:p>
          <a:p>
            <a:r>
              <a:t>- IKEA Blue FRAKTA Shopping Bag | Creator: Andrea014 | License: CC BY-SA 3.0 de | Source: https://commons.wikimedia.org/wiki/File:IKEA-Tasche.JPG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Kaan | Timing: 30s (Cumulative: 03:00 / 12:00)</a:t>
            </a:r>
          </a:p>
          <a:p/>
          <a:p>
            <a:r>
              <a:t>[Stage Directions]</a:t>
            </a:r>
          </a:p>
          <a:p>
            <a:r>
              <a:t>Brief optional pause before handing over to Caner.</a:t>
            </a:r>
          </a:p>
          <a:p/>
          <a:p>
            <a:r>
              <a:t>[Spoken Script]</a:t>
            </a:r>
          </a:p>
          <a:p>
            <a:r>
              <a:t>We often hear that red creates hunger and blue builds trust. But a color does not mean the same thing to everyone. With brands, we learn these links by seeing the same colors again and again. So using a color consistently matters. Caner will show you some examples.</a:t>
            </a:r>
          </a:p>
          <a:p/>
          <a:p>
            <a:r>
              <a:t>[Citations &amp; References]</a:t>
            </a:r>
          </a:p>
          <a:p>
            <a:r>
              <a:t>- [S1] Evidence concerning the importance of perceived brand differentiation (Australasian Marketing Journal / Ehrenberg-Bass Institute for Marketing Science): https://assets.marketingscience.info/different.pdf</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Caner | Timing: 36s (Cumulative: 03:36 / 12:00)</a:t>
            </a:r>
          </a:p>
          <a:p/>
          <a:p>
            <a:r>
              <a:t>[Stage Directions]</a:t>
            </a:r>
          </a:p>
          <a:p>
            <a:r>
              <a:t>Brief optional pause.</a:t>
            </a:r>
          </a:p>
          <a:p/>
          <a:p>
            <a:r>
              <a:t>[Spoken Script]</a:t>
            </a:r>
          </a:p>
          <a:p>
            <a:r>
              <a:t>Our first case study is Coca-Cola. In the early 1900s, sodas used plain glass bottles. Local competitors copied them very easily. Paper labels also peeled off in cold water coolers. In 1915, Coca-Cola asked designers for help. They wanted a bottle you could recognize by touch in the dark.</a:t>
            </a:r>
          </a:p>
          <a:p/>
          <a:p>
            <a:r>
              <a:t>[Citations &amp; References]</a:t>
            </a:r>
          </a:p>
          <a:p>
            <a:r>
              <a:t>- [S4] The History of the Coca-Cola Contour Bottle (The Coca-Cola Company): https://www.coca-colacompany.com/about-us/history/the-history-of-the-coca-cola-contour-bottle</a:t>
            </a:r>
          </a:p>
          <a:p/>
          <a:p>
            <a:r>
              <a:t>[Image Credits &amp; Permissions]</a:t>
            </a:r>
          </a:p>
          <a:p>
            <a:r>
              <a:t>- Coca-Cola Classic Contour Glass Bottle | Creator: Ralf Roletschek | License: Public domain | Source: https://commons.wikimedia.org/wiki/File:15-09-26-RalfR-WLC-0098_-_Coca-Cola_glass_bottle_(Germany).jpg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Caner | Timing: 36s (Cumulative: 04:12 / 12:00)</a:t>
            </a:r>
          </a:p>
          <a:p/>
          <a:p>
            <a:r>
              <a:t>[Stage Directions]</a:t>
            </a:r>
          </a:p>
          <a:p>
            <a:r>
              <a:t>Brief optional pause.</a:t>
            </a:r>
          </a:p>
          <a:p/>
          <a:p>
            <a:r>
              <a:t>[Spoken Script]</a:t>
            </a:r>
          </a:p>
          <a:p>
            <a:r>
              <a:t>The Root Glass Company in Indiana answered the challenge. While researching, designers saw a sketch of a cocoa bean. It had rounded ribs and curved lines. Cocoa was not in the recipe, but the grooves inspired them. Alexander Samuelson patented this fluted shape on November 16, 1915.</a:t>
            </a:r>
          </a:p>
          <a:p/>
          <a:p>
            <a:r>
              <a:t>[Citations &amp; References]</a:t>
            </a:r>
          </a:p>
          <a:p>
            <a:r>
              <a:t>- [S4] The History of the Coca-Cola Contour Bottle (The Coca-Cola Company): https://www.coca-colacompany.com/about-us/history/the-history-of-the-coca-cola-contour-bottle</a:t>
            </a:r>
          </a:p>
          <a:p/>
          <a:p>
            <a:r>
              <a:t>[Image Credits &amp; Permissions]</a:t>
            </a:r>
          </a:p>
          <a:p>
            <a:r>
              <a:t>- 1915 Coca-Cola Contour Bottle Original US Patent Drawing | Creator: Alexander Samuelson / Chapman J. Root / US Patent Office | License: Public domain | Source: https://commons.wikimedia.org/wiki/File:Coke_bottle_patent.png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Caner | Timing: 36s (Cumulative: 04:48 / 12:00)</a:t>
            </a:r>
          </a:p>
          <a:p/>
          <a:p>
            <a:r>
              <a:t>[Stage Directions]</a:t>
            </a:r>
          </a:p>
          <a:p>
            <a:r>
              <a:t>Brief optional pause.</a:t>
            </a:r>
          </a:p>
          <a:p/>
          <a:p>
            <a:r>
              <a:t>[Spoken Script]</a:t>
            </a:r>
          </a:p>
          <a:p>
            <a:r>
              <a:t>Here we compare a photo-derived silhouette with the 1915 patent drawing. Both images are in black and white. There is no red color and no brand name. Yet the curved bottle remains easy to spot. This shows that shape works as a clue all by itself. You do not need color to identify this container.</a:t>
            </a:r>
          </a:p>
          <a:p/>
          <a:p>
            <a:r>
              <a:t>[Citations &amp; References]</a:t>
            </a:r>
          </a:p>
          <a:p>
            <a:r>
              <a:t>- [S4] The History of the Coca-Cola Contour Bottle (The Coca-Cola Company): https://www.coca-colacompany.com/about-us/history/the-history-of-the-coca-cola-contour-bottle</a:t>
            </a:r>
          </a:p>
          <a:p/>
          <a:p>
            <a:r>
              <a:t>[Image Credits &amp; Permissions]</a:t>
            </a:r>
          </a:p>
          <a:p>
            <a:r>
              <a:t>- Coca-Cola Classic Contour Glass Bottle | Creator: Ralf Roletschek | License: Public domain | Source: https://commons.wikimedia.org/wiki/File:15-09-26-RalfR-WLC-0098_-_Coca-Cola_glass_bottle_(Germany).jpg</a:t>
            </a:r>
          </a:p>
          <a:p>
            <a:r>
              <a:t>- 1915 Coca-Cola Contour Bottle Original US Patent Drawing | Creator: Alexander Samuelson / Chapman J. Root / US Patent Office | License: Public domain | Source: https://commons.wikimedia.org/wiki/File:Coke_bottle_patent.png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Caner | Timing: 36s (Cumulative: 05:24 / 12:00)</a:t>
            </a:r>
          </a:p>
          <a:p/>
          <a:p>
            <a:r>
              <a:t>[Stage Directions]</a:t>
            </a:r>
          </a:p>
          <a:p>
            <a:r>
              <a:t>Brief optional pause.</a:t>
            </a:r>
          </a:p>
          <a:p/>
          <a:p>
            <a:r>
              <a:t>[Spoken Script]</a:t>
            </a:r>
          </a:p>
          <a:p>
            <a:r>
              <a:t>Our second case study is McDonald’s. The logo is visible here. But imagine covering it. The red box and fries still give us clues. The curved red carton and yellow fries work together. Not everyone will recognize it, of course. Still, packaging shape and color support each other well.</a:t>
            </a:r>
          </a:p>
          <a:p/>
          <a:p>
            <a:r>
              <a:t>[Citations &amp; References]</a:t>
            </a:r>
          </a:p>
          <a:p>
            <a:r>
              <a:t>- [S1] Evidence concerning the importance of perceived brand differentiation (Australasian Marketing Journal / Ehrenberg-Bass Institute for Marketing Science): https://assets.marketingscience.info/different.pdf</a:t>
            </a:r>
          </a:p>
          <a:p>
            <a:r>
              <a:t>- [S3] Brands of Distinction (Ehrenberg-Bass Institute for Marketing Science / UniSA Business Magazine): https://marketingscience.info/news-and-insights/brands-of-distinction</a:t>
            </a:r>
          </a:p>
          <a:p/>
          <a:p>
            <a:r>
              <a:t>[Image Credits &amp; Permissions]</a:t>
            </a:r>
          </a:p>
          <a:p>
            <a:r>
              <a:t>- McDonald's French Fries in Red Carton | Creator: Filippos Fragkogiannis | License: CC BY-SA 4.0 | Source: https://commons.wikimedia.org/wiki/File:McDonald%27s_French_Fries_(2024).jpg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Caner | Timing: 36s (Cumulative: 06:00 / 12:00)</a:t>
            </a:r>
          </a:p>
          <a:p/>
          <a:p>
            <a:r>
              <a:t>[Stage Directions]</a:t>
            </a:r>
          </a:p>
          <a:p>
            <a:r>
              <a:t>Brief optional pause.</a:t>
            </a:r>
          </a:p>
          <a:p/>
          <a:p>
            <a:r>
              <a:t>[Spoken Script]</a:t>
            </a:r>
          </a:p>
          <a:p>
            <a:r>
              <a:t>McDonald’s also shows how visual clues adapt. In 2009, some European restaurants changed red backgrounds to green. The golden arches stayed the same. In 2018, Canadian billboards used cropped pieces of the arches. They pointed drivers toward nearby restaurants. These ads used parts of a familiar logo, not color alone.</a:t>
            </a:r>
          </a:p>
          <a:p/>
          <a:p>
            <a:r>
              <a:t>[Citations &amp; References]</a:t>
            </a:r>
          </a:p>
          <a:p>
            <a:r>
              <a:t>- [S8] McDonald’s rolling out green logo in Europe (NBC News / The Associated Press): https://www.nbcnews.com/id/wbna34111784</a:t>
            </a:r>
          </a:p>
          <a:p>
            <a:r>
              <a:t>- [S9] Cossette and McDonald's deconstruct the iconic Golden Arches to direct people to the nearest restaurant (Cossette): https://www.cossette.com/en/blog/__temp_icoufkdgyfmhfyeayjfwwthtvmmmmbyghnhu</a:t>
            </a:r>
          </a:p>
          <a:p/>
          <a:p>
            <a:r>
              <a:t>[Image Credits &amp; Permissions]</a:t>
            </a:r>
          </a:p>
          <a:p>
            <a:r>
              <a:t>- McDonald's 'Follow the Arches' Highway Directional Billboard | Creator: Cossette / McDonald's Restaurants of Canada Limited | License: Copyrighted; no reuse license stated; included for classroom commentary | Source: https://www.cossette.com/en/blog/__temp_icoufkdgyfmhfyeayjfwwthtvmmmmbyghnhu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Caner | Timing: 36s (Cumulative: 06:36 / 12:00)</a:t>
            </a:r>
          </a:p>
          <a:p/>
          <a:p>
            <a:r>
              <a:t>[Stage Directions]</a:t>
            </a:r>
          </a:p>
          <a:p>
            <a:r>
              <a:t>Brief optional pause.</a:t>
            </a:r>
          </a:p>
          <a:p/>
          <a:p>
            <a:r>
              <a:t>[Spoken Script]</a:t>
            </a:r>
          </a:p>
          <a:p>
            <a:r>
              <a:t>Our third case study is Tiffany and Co. They built strong recognition around one signature color. In the 1800s, the founder picked robin’s-egg blue for a catalogue. Soon, the blue box with a white satin ribbon appeared. People learned to connect this color with luxury jewelry gifts. The box itself became as famous as the jewelry.</a:t>
            </a:r>
          </a:p>
          <a:p/>
          <a:p>
            <a:r>
              <a:t>[Citations &amp; References]</a:t>
            </a:r>
          </a:p>
          <a:p>
            <a:r>
              <a:t>- [S5] Tiffany Blue: A Color So Famous, It's Trademarked (Tiffany &amp; Co.): https://press.tiffany.com/our-story/tiffany-blue/</a:t>
            </a:r>
          </a:p>
          <a:p/>
          <a:p>
            <a:r>
              <a:t>[Image Credits &amp; Permissions]</a:t>
            </a:r>
          </a:p>
          <a:p>
            <a:r>
              <a:t>- Tiffany &amp; Co. Blue Gift Box with Ribbon Bow | Creator: Adriana Górak | License: CC BY-SA 3.0 | Source: https://commons.wikimedia.org/wiki/File:Tiffany_blue_box_1.jpg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Caner | Timing: 36s (Cumulative: 07:12 / 12:00)</a:t>
            </a:r>
          </a:p>
          <a:p/>
          <a:p>
            <a:r>
              <a:t>[Stage Directions]</a:t>
            </a:r>
          </a:p>
          <a:p>
            <a:r>
              <a:t>Brief optional pause.</a:t>
            </a:r>
          </a:p>
          <a:p/>
          <a:p>
            <a:r>
              <a:t>[Spoken Script]</a:t>
            </a:r>
          </a:p>
          <a:p>
            <a:r>
              <a:t>Tiffany protected this blue box through strict presentation rules. An old 1906 report said you could never buy an empty box. It only came with a real jewelry purchase. That is Tiffany’s own account, not independent research. Still, it shows how carefully they protected the packaging.</a:t>
            </a:r>
          </a:p>
          <a:p/>
          <a:p>
            <a:r>
              <a:t>[Citations &amp; References]</a:t>
            </a:r>
          </a:p>
          <a:p>
            <a:r>
              <a:t>- [S5] Tiffany Blue: A Color So Famous, It's Trademarked (Tiffany &amp; Co.): https://press.tiffany.com/our-story/tiffany-blue/</a:t>
            </a:r>
          </a:p>
          <a:p/>
          <a:p>
            <a:r>
              <a:t>[Image Credits &amp; Permissions]</a:t>
            </a:r>
          </a:p>
          <a:p>
            <a:r>
              <a:t>- Tiffany &amp; Co. Blue Gift Box with Ribbon Bow | Creator: Adriana Górak | License: CC BY-SA 3.0 | Source: https://commons.wikimedia.org/wiki/File:Tiffany_blue_box_1.jpg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Caner | Timing: 36s (Cumulative: 07:48 / 12:00)</a:t>
            </a:r>
          </a:p>
          <a:p/>
          <a:p>
            <a:r>
              <a:t>[Stage Directions]</a:t>
            </a:r>
          </a:p>
          <a:p>
            <a:r>
              <a:t>Brief optional pause.</a:t>
            </a:r>
          </a:p>
          <a:p/>
          <a:p>
            <a:r>
              <a:t>[Spoken Script]</a:t>
            </a:r>
          </a:p>
          <a:p>
            <a:r>
              <a:t>To keep the color consistent, Tiffany worked with Pantone in 2001. They created a custom standard called 1837 Blue. The color on this screen is only an approximation. Tiffany also trademarked the color for packaging in 1998. That rule applies to luxury boxes, not every blue product.</a:t>
            </a:r>
          </a:p>
          <a:p/>
          <a:p>
            <a:r>
              <a:t>[Citations &amp; References]</a:t>
            </a:r>
          </a:p>
          <a:p>
            <a:r>
              <a:t>- [S5] Tiffany Blue: A Color So Famous, It's Trademarked (Tiffany &amp; Co.): https://press.tiffany.com/our-story/tiffany-blue/</a:t>
            </a:r>
          </a:p>
          <a:p/>
          <a:p>
            <a:r>
              <a:t>[Image Credits &amp; Permissions]</a:t>
            </a:r>
          </a:p>
          <a:p>
            <a:r>
              <a:t>- Tiffany &amp; Co. Blue Gift Box with Ribbon Bow | Creator: Adriana Górak | License: CC BY-SA 3.0 | Source: https://commons.wikimedia.org/wiki/File:Tiffany_blue_box_1.jpg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Caner | Timing: 36s (Cumulative: 08:24 / 12:00)</a:t>
            </a:r>
          </a:p>
          <a:p/>
          <a:p>
            <a:r>
              <a:t>[Stage Directions]</a:t>
            </a:r>
          </a:p>
          <a:p>
            <a:r>
              <a:t>Brief optional pause before handing back to Kaan.</a:t>
            </a:r>
          </a:p>
          <a:p/>
          <a:p>
            <a:r>
              <a:t>[Spoken Script]</a:t>
            </a:r>
          </a:p>
          <a:p>
            <a:r>
              <a:t>Our fourth case study is IKEA. We all know their blue and yellow buildings today. But standardizing these colors took many years. In 1984, IKEA published its first brand manual. From 1991, they built blue warehouse stores with yellow signs. Now, back to Kaan.</a:t>
            </a:r>
          </a:p>
          <a:p/>
          <a:p>
            <a:r>
              <a:t>[Citations &amp; References]</a:t>
            </a:r>
          </a:p>
          <a:p>
            <a:r>
              <a:t>- [S6] History of the logotype: The small steps of evolution (IKEA Museum / Inter IKEA Systems B.V.): https://ikeamuseum.com/en/explore/the-story-of-ikea/history-of-the-logotype/</a:t>
            </a:r>
          </a:p>
          <a:p/>
          <a:p>
            <a:r>
              <a:t>[Image Credits &amp; Permissions]</a:t>
            </a:r>
          </a:p>
          <a:p>
            <a:r>
              <a:t>- IKEA Blue and Yellow Warehouse Store Exterior | Creator: Ben MacLeod | License: CC BY-SA 4.0 | Source: https://commons.wikimedia.org/wiki/File:IKEA_Halifax_2019.jpg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Kaan | Timing: 36s (Cumulative: 09:00 / 12:00)</a:t>
            </a:r>
          </a:p>
          <a:p/>
          <a:p>
            <a:r>
              <a:t>[Stage Directions]</a:t>
            </a:r>
          </a:p>
          <a:p>
            <a:r>
              <a:t>Brief optional pause.</a:t>
            </a:r>
          </a:p>
          <a:p/>
          <a:p>
            <a:r>
              <a:t>[Spoken Script]</a:t>
            </a:r>
          </a:p>
          <a:p>
            <a:r>
              <a:t>Thanks, Caner. IKEA created another famous clue: the blue FRAKTA bag. In 1986, shoppers got tired carrying heavy goods. IKEA tested yellow bags in 1989, but checkout got confusing. So yellow bags stayed inside for borrowing. Blue bags were sold to take home. That durable bag became a familiar household clue.</a:t>
            </a:r>
          </a:p>
          <a:p/>
          <a:p>
            <a:r>
              <a:t>[Citations &amp; References]</a:t>
            </a:r>
          </a:p>
          <a:p>
            <a:r>
              <a:t>- [S7] Beloved bag: The story of FRAKTA (IKEA Museum / Inter IKEA Systems B.V.): https://ikeamuseum.com/en/explore/the-story-of-ikea/beloved-bag/</a:t>
            </a:r>
          </a:p>
          <a:p/>
          <a:p>
            <a:r>
              <a:t>[Image Credits &amp; Permissions]</a:t>
            </a:r>
          </a:p>
          <a:p>
            <a:r>
              <a:t>- IKEA Blue FRAKTA Shopping Bag | Creator: Andrea014 | License: CC BY-SA 3.0 de | Source: https://commons.wikimedia.org/wiki/File:IKEA-Tasche.JPG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Kaan | Timing: 36s (Cumulative: 09:36 / 12:00)</a:t>
            </a:r>
          </a:p>
          <a:p/>
          <a:p>
            <a:r>
              <a:t>[Stage Directions]</a:t>
            </a:r>
          </a:p>
          <a:p>
            <a:r>
              <a:t>Brief optional pause.</a:t>
            </a:r>
          </a:p>
          <a:p/>
          <a:p>
            <a:r>
              <a:t>[Spoken Script]</a:t>
            </a:r>
          </a:p>
          <a:p>
            <a:r>
              <a:t>What do these examples teach us about design? First, color alone is rarely enough. Many big companies use the same basic colors. Red is used by Coca-Cola, Target, and McDonald’s. Yellow is shared by IKEA, Shell, and DHL. Without context, one color can suggest several brands.</a:t>
            </a:r>
          </a:p>
          <a:p/>
          <a:p>
            <a:r>
              <a:t>[Citations &amp; References]</a:t>
            </a:r>
          </a:p>
          <a:p>
            <a:r>
              <a:t>- [S1] Evidence concerning the importance of perceived brand differentiation (Australasian Marketing Journal / Ehrenberg-Bass Institute for Marketing Science): https://assets.marketingscience.info/different.pdf</a:t>
            </a:r>
          </a:p>
          <a:p>
            <a:r>
              <a:t>- [S3] Brands of Distinction (Ehrenberg-Bass Institute for Marketing Science / UniSA Business Magazine): https://marketingscience.info/news-and-insights/brands-of-distinction</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Kaan | Timing: 36s (Cumulative: 10:12 / 12:00)</a:t>
            </a:r>
          </a:p>
          <a:p/>
          <a:p>
            <a:r>
              <a:t>[Stage Directions]</a:t>
            </a:r>
          </a:p>
          <a:p>
            <a:r>
              <a:t>Brief optional pause.</a:t>
            </a:r>
          </a:p>
          <a:p/>
          <a:p>
            <a:r>
              <a:t>[Spoken Script]</a:t>
            </a:r>
          </a:p>
          <a:p>
            <a:r>
              <a:t>This is why visual clues work best together. A plain bottle outline could be any drink. A solid red square could mean many brands. But when you pair shape with color, recognition becomes easy. Not everyone will spot every clue instantly. Still, multiple clues support each other during shopping.</a:t>
            </a:r>
          </a:p>
          <a:p/>
          <a:p>
            <a:r>
              <a:t>[Citations &amp; References]</a:t>
            </a:r>
          </a:p>
          <a:p>
            <a:r>
              <a:t>- [S1] Evidence concerning the importance of perceived brand differentiation (Australasian Marketing Journal / Ehrenberg-Bass Institute for Marketing Science): https://assets.marketingscience.info/different.pdf</a:t>
            </a:r>
          </a:p>
          <a:p>
            <a:r>
              <a:t>- [S2] Q&amp;A: Seven Costly Sins of Brand Identity (Ehrenberg-Bass Institute for Marketing Science): https://assets.marketingscience.info/Brand-Identity-QA.pdf</a:t>
            </a:r>
          </a:p>
          <a:p>
            <a:r>
              <a:t>- [S3] Brands of Distinction (Ehrenberg-Bass Institute for Marketing Science / UniSA Business Magazine): https://marketingscience.info/news-and-insights/brands-of-distinction</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Kaan | Timing: 36s (Cumulative: 10:48 / 12:00)</a:t>
            </a:r>
          </a:p>
          <a:p/>
          <a:p>
            <a:r>
              <a:t>[Stage Directions]</a:t>
            </a:r>
          </a:p>
          <a:p>
            <a:r>
              <a:t>Brief optional pause.</a:t>
            </a:r>
          </a:p>
          <a:p/>
          <a:p>
            <a:r>
              <a:t>[Spoken Script]</a:t>
            </a:r>
          </a:p>
          <a:p>
            <a:r>
              <a:t>Our next lesson is about the risk of redesigns. Design teams often want to change packaging for new trends. But shoppers rely on quick visual habits in store aisles. If a company changes colors or shapes too fast, customers get confused. Protecting familiar clues keeps existing buyers happy.</a:t>
            </a:r>
          </a:p>
          <a:p/>
          <a:p>
            <a:r>
              <a:t>[Citations &amp; References]</a:t>
            </a:r>
          </a:p>
          <a:p>
            <a:r>
              <a:t>- [S2] Q&amp;A: Seven Costly Sins of Brand Identity (Ehrenberg-Bass Institute for Marketing Science): https://assets.marketingscience.info/Brand-Identity-QA.pdf</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Kaan | Timing: 36s (Cumulative: 11:24 / 12:00)</a:t>
            </a:r>
          </a:p>
          <a:p/>
          <a:p>
            <a:r>
              <a:t>[Stage Directions]</a:t>
            </a:r>
          </a:p>
          <a:p>
            <a:r>
              <a:t>Brief optional pause.</a:t>
            </a:r>
          </a:p>
          <a:p/>
          <a:p>
            <a:r>
              <a:t>[Spoken Script]</a:t>
            </a:r>
          </a:p>
          <a:p>
            <a:r>
              <a:t>Here are three practical tips for designers. First, build clear shapes that work in black and white. Second, pair colors with unique packages and fonts. Third, stay consistent over long periods of time. You can evolve cues carefully, but test before changing them. Consistency turns simple designs into lasting memory shortcuts.</a:t>
            </a:r>
          </a:p>
          <a:p/>
          <a:p>
            <a:r>
              <a:t>[Citations &amp; References]</a:t>
            </a:r>
          </a:p>
          <a:p>
            <a:r>
              <a:t>- [S1] Evidence concerning the importance of perceived brand differentiation (Australasian Marketing Journal / Ehrenberg-Bass Institute for Marketing Science): https://assets.marketingscience.info/different.pdf</a:t>
            </a:r>
          </a:p>
          <a:p>
            <a:r>
              <a:t>- [S2] Q&amp;A: Seven Costly Sins of Brand Identity (Ehrenberg-Bass Institute for Marketing Science): https://assets.marketingscience.info/Brand-Identity-QA.pdf</a:t>
            </a:r>
          </a:p>
          <a:p>
            <a:r>
              <a:t>- [S3] Brands of Distinction (Ehrenberg-Bass Institute for Marketing Science / UniSA Business Magazine): https://marketingscience.info/news-and-insights/brands-of-distinction</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Kaan | Timing: 36s (Cumulative: 12:00 / 12:00)</a:t>
            </a:r>
          </a:p>
          <a:p/>
          <a:p>
            <a:r>
              <a:t>[Stage Directions]</a:t>
            </a:r>
          </a:p>
          <a:p>
            <a:r>
              <a:t>Brief optional pause to conclude.</a:t>
            </a:r>
          </a:p>
          <a:p/>
          <a:p>
            <a:r>
              <a:t>[Spoken Script]</a:t>
            </a:r>
          </a:p>
          <a:p>
            <a:r>
              <a:t>To wrap up, logos still matter at the final moment. But in crowded places, shapes and colors catch our attention first. Bottles, fry cartons, and gift boxes guide us without words. Thank you very much for your time. Caner and I are happy to take any questions.</a:t>
            </a:r>
          </a:p>
          <a:p/>
          <a:p>
            <a:r>
              <a:t>[Citations &amp; References]</a:t>
            </a:r>
          </a:p>
          <a:p>
            <a:r>
              <a:t>- [S1] Evidence concerning the importance of perceived brand differentiation (Australasian Marketing Journal / Ehrenberg-Bass Institute for Marketing Science): https://assets.marketingscience.info/different.pdf</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 not part of timed speech.</a:t>
            </a:r>
          </a:p>
          <a:p>
            <a:r>
              <a:t>Speaker: None | Timing: 0s (Cumulative: 12:00 / 12:00)</a:t>
            </a:r>
          </a:p>
          <a:p/>
          <a:p>
            <a:r>
              <a:t>[Stage Directions]</a:t>
            </a:r>
          </a:p>
          <a:p>
            <a:r>
              <a:t>Closing slide displayed during audience questions and discussion.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 not part of timed speech.</a:t>
            </a:r>
          </a:p>
          <a:p>
            <a:r>
              <a:t>Speaker: None | Timing: 0s (Cumulative: 12:00 / 12:00)</a:t>
            </a:r>
          </a:p>
          <a:p/>
          <a:p>
            <a:r>
              <a:t>[Stage Directions]</a:t>
            </a:r>
          </a:p>
          <a:p>
            <a:r>
              <a:t>Keep visible during questions for academic citations.</a:t>
            </a:r>
          </a:p>
          <a:p/>
          <a:p>
            <a:r>
              <a:t>[Citations &amp; References]</a:t>
            </a:r>
          </a:p>
          <a:p>
            <a:r>
              <a:t>- [S1] Evidence concerning the importance of perceived brand differentiation (Australasian Marketing Journal / Ehrenberg-Bass Institute for Marketing Science): https://assets.marketingscience.info/different.pdf</a:t>
            </a:r>
          </a:p>
          <a:p>
            <a:r>
              <a:t>- [S2] Q&amp;A: Seven Costly Sins of Brand Identity (Ehrenberg-Bass Institute for Marketing Science): https://assets.marketingscience.info/Brand-Identity-QA.pdf</a:t>
            </a:r>
          </a:p>
          <a:p>
            <a:r>
              <a:t>- [S3] Brands of Distinction (Ehrenberg-Bass Institute for Marketing Science / UniSA Business Magazine): https://marketingscience.info/news-and-insights/brands-of-distinction</a:t>
            </a:r>
          </a:p>
          <a:p>
            <a:r>
              <a:t>- [S4] The History of the Coca-Cola Contour Bottle (The Coca-Cola Company): https://www.coca-colacompany.com/about-us/history/the-history-of-the-coca-cola-contour-bottle</a:t>
            </a:r>
          </a:p>
          <a:p>
            <a:r>
              <a:t>- [S5] Tiffany Blue: A Color So Famous, It's Trademarked (Tiffany &amp; Co.): https://press.tiffany.com/our-story/tiffany-blue/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 not part of timed speech.</a:t>
            </a:r>
          </a:p>
          <a:p>
            <a:r>
              <a:t>Speaker: None | Timing: 0s (Cumulative: 12:00 / 12:00)</a:t>
            </a:r>
          </a:p>
          <a:p/>
          <a:p>
            <a:r>
              <a:t>[Stage Directions]</a:t>
            </a:r>
          </a:p>
          <a:p>
            <a:r>
              <a:t>Keep visible during questions for archival citations.</a:t>
            </a:r>
          </a:p>
          <a:p/>
          <a:p>
            <a:r>
              <a:t>[Citations &amp; References]</a:t>
            </a:r>
          </a:p>
          <a:p>
            <a:r>
              <a:t>- [S6] History of the logotype: The small steps of evolution (IKEA Museum / Inter IKEA Systems B.V.): https://ikeamuseum.com/en/explore/the-story-of-ikea/history-of-the-logotype/</a:t>
            </a:r>
          </a:p>
          <a:p>
            <a:r>
              <a:t>- [S7] Beloved bag: The story of FRAKTA (IKEA Museum / Inter IKEA Systems B.V.): https://ikeamuseum.com/en/explore/the-story-of-ikea/beloved-bag/</a:t>
            </a:r>
          </a:p>
          <a:p>
            <a:r>
              <a:t>- [S8] McDonald’s rolling out green logo in Europe (NBC News / The Associated Press): https://www.nbcnews.com/id/wbna34111784</a:t>
            </a:r>
          </a:p>
          <a:p>
            <a:r>
              <a:t>- [S9] Cossette and McDonald's deconstruct the iconic Golden Arches to direct people to the nearest restaurant (Cossette): https://www.cossette.com/en/blog/__temp_icoufkdgyfmhfyeayjfwwthtvmmmmbyghnhu</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appendix — not part of timed speech.</a:t>
            </a:r>
          </a:p>
          <a:p>
            <a:r>
              <a:t>Speaker: None | Timing: 0s (Cumulative: 12:00 / 12:00)</a:t>
            </a:r>
          </a:p>
          <a:p/>
          <a:p>
            <a:r>
              <a:t>[Stage Directions]</a:t>
            </a:r>
          </a:p>
          <a:p>
            <a:r>
              <a:t>Reference appendix documenting full image credits, licenses, and source repositories. Display during Q&amp;A and archival review; not part of timed spoken presentation.</a:t>
            </a:r>
          </a:p>
          <a:p/>
          <a:p>
            <a:r>
              <a:t>[Image Credits &amp; Source Metadata]</a:t>
            </a:r>
          </a:p>
          <a:p>
            <a:r>
              <a:t>- Title: McDonald's French Fries in Red Carton</a:t>
            </a:r>
          </a:p>
          <a:p>
            <a:r>
              <a:t>  Asset ID: mcdonalds-fries-packaging</a:t>
            </a:r>
          </a:p>
          <a:p>
            <a:r>
              <a:t>  Creator: Filippos Fragkogiannis</a:t>
            </a:r>
          </a:p>
          <a:p>
            <a:r>
              <a:t>  License: CC BY-SA 4.0</a:t>
            </a:r>
          </a:p>
          <a:p>
            <a:r>
              <a:t>  License URL: https://creativecommons.org/licenses/by-sa/4.0</a:t>
            </a:r>
          </a:p>
          <a:p>
            <a:r>
              <a:t>  Source Page: https://commons.wikimedia.org/wiki/File:McDonald%27s_French_Fries_(2024).jpg</a:t>
            </a:r>
          </a:p>
          <a:p>
            <a:r>
              <a:t>  Direct Download: https://upload.wikimedia.org/wikipedia/commons/e/eb/McDonald%27s_French_Fries_%282024%29.jpg</a:t>
            </a:r>
          </a:p>
          <a:p>
            <a:r>
              <a:t>  Description: Close-up photograph of french fries in a red paperboard carton packaging placed on a wooden restaurant table. Used as a classroom visual aid to analyze how color combination and packaging shape function without logo visibility.</a:t>
            </a:r>
          </a:p>
          <a:p/>
          <a:p>
            <a:r>
              <a:t>- Title: McDonald's 'Follow the Arches' Highway Directional Billboard</a:t>
            </a:r>
          </a:p>
          <a:p>
            <a:r>
              <a:t>  Asset ID: mcdonalds-follow-the-arches-billboard</a:t>
            </a:r>
          </a:p>
          <a:p>
            <a:r>
              <a:t>  Creator: Cossette / McDonald's Restaurants of Canada Limited</a:t>
            </a:r>
          </a:p>
          <a:p>
            <a:r>
              <a:t>  License: Copyrighted; no reuse license stated; included for classroom commentary</a:t>
            </a:r>
          </a:p>
          <a:p>
            <a:r>
              <a:t>  License URL: https://www.cossette.com/en/blog/__temp_icoufkdgyfmhfyeayjfwwthtvmmmmbyghnhu</a:t>
            </a:r>
          </a:p>
          <a:p>
            <a:r>
              <a:t>  Source Page: https://www.cossette.com/en/blog/__temp_icoufkdgyfmhfyeayjfwwthtvmmmmbyghnhu</a:t>
            </a:r>
          </a:p>
          <a:p>
            <a:r>
              <a:t>  Direct Download: https://cdn.cossette.com/cdn-cgi/image/width=1000,quality=82,format=auto,fit=cover/production/images/Blogue-Articles/Blogue-articles-2018/Arches-McDo/Copy-of-Follow-The-Arches-On-Your-Right.jpg</a:t>
            </a:r>
          </a:p>
          <a:p>
            <a:r>
              <a:t>  Description: Photograph of a highway directional billboard from the 2018 'Follow the Arches' campaign created by Cossette for McDonald's Canada. Features a cropped section of the Golden Arches curve indicating a highway exit with the caption 'on your right' on a red background. Used as a classroom visual aid demonstrating that the campaign utilizes cropped segments of an existing trademarked logo rather than color alone.</a:t>
            </a:r>
          </a:p>
          <a:p/>
          <a:p>
            <a:r>
              <a:t>- Title: Coca-Cola Classic Contour Glass Bottle</a:t>
            </a:r>
          </a:p>
          <a:p>
            <a:r>
              <a:t>  Asset ID: coca-cola-contour-bottle</a:t>
            </a:r>
          </a:p>
          <a:p>
            <a:r>
              <a:t>  Creator: Ralf Roletschek</a:t>
            </a:r>
          </a:p>
          <a:p>
            <a:r>
              <a:t>  License: Public domain</a:t>
            </a:r>
          </a:p>
          <a:p>
            <a:r>
              <a:t>  Source Page: https://commons.wikimedia.org/wiki/File:15-09-26-RalfR-WLC-0098_-_Coca-Cola_glass_bottle_(Germany).jpg</a:t>
            </a:r>
          </a:p>
          <a:p>
            <a:r>
              <a:t>  Direct Download: https://upload.wikimedia.org/wikipedia/commons/e/e8/15-09-26-RalfR-WLC-0098_-_Coca-Cola_glass_bottle_%28Germany%29.jpg</a:t>
            </a:r>
          </a:p>
          <a:p>
            <a:r>
              <a:t>  Description: Studio photograph of a chilled 0.2-liter Coca-Cola glass contour bottle with surface condensation droplets, crown cap, and vertical fluted ribs. Used as a classroom visual aid to examine the physical contour bottle silhouette and tactile glass design.</a:t>
            </a:r>
          </a:p>
          <a:p/>
          <a:p>
            <a:r>
              <a:t>- Title: 1915 Coca-Cola Contour Bottle Original US Patent Drawing</a:t>
            </a:r>
          </a:p>
          <a:p>
            <a:r>
              <a:t>  Asset ID: coca-cola-bottle-patent-1915</a:t>
            </a:r>
          </a:p>
          <a:p>
            <a:r>
              <a:t>  Creator: Alexander Samuelson / Chapman J. Root / US Patent Office</a:t>
            </a:r>
          </a:p>
          <a:p>
            <a:r>
              <a:t>  License: Public domain</a:t>
            </a:r>
          </a:p>
          <a:p>
            <a:r>
              <a:t>  Source Page: https://commons.wikimedia.org/wiki/File:Coke_bottle_patent.png</a:t>
            </a:r>
          </a:p>
          <a:p>
            <a:r>
              <a:t>  Direct Download: https://upload.wikimedia.org/wikipedia/commons/8/8f/Coke_bottle_patent.png</a:t>
            </a:r>
          </a:p>
          <a:p>
            <a:r>
              <a:t>  Description: Technical patent drawing illustrating the fluted glass bottle geometry submitted for US Design Patent D48,160, granted on November 16, 1915 to Alexander Samuelson of the Root Glass Company. Used as a classroom visual aid for historical shape analysis. The patent drawing illustrates the physical shape; the famous design requirement (a bottle recognizable in the dark or broken on the ground) comes from Coca-Cola company history and commissioning lore, not the patent document itself.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appendix — not part of timed speech.</a:t>
            </a:r>
          </a:p>
          <a:p>
            <a:r>
              <a:t>Speaker: None | Timing: 0s (Cumulative: 12:00 / 12:00)</a:t>
            </a:r>
          </a:p>
          <a:p/>
          <a:p>
            <a:r>
              <a:t>[Stage Directions]</a:t>
            </a:r>
          </a:p>
          <a:p>
            <a:r>
              <a:t>Reference appendix documenting full image credits, licenses, and source repositories. Display during Q&amp;A and archival review; not part of timed spoken presentation.</a:t>
            </a:r>
          </a:p>
          <a:p/>
          <a:p>
            <a:r>
              <a:t>[Image Credits &amp; Source Metadata]</a:t>
            </a:r>
          </a:p>
          <a:p>
            <a:r>
              <a:t>- Title: Tiffany &amp; Co. Blue Gift Box with Ribbon Bow</a:t>
            </a:r>
          </a:p>
          <a:p>
            <a:r>
              <a:t>  Asset ID: tiffany-blue-box</a:t>
            </a:r>
          </a:p>
          <a:p>
            <a:r>
              <a:t>  Creator: Adriana Górak</a:t>
            </a:r>
          </a:p>
          <a:p>
            <a:r>
              <a:t>  License: CC BY-SA 3.0</a:t>
            </a:r>
          </a:p>
          <a:p>
            <a:r>
              <a:t>  License URL: https://creativecommons.org/licenses/by-sa/3.0</a:t>
            </a:r>
          </a:p>
          <a:p>
            <a:r>
              <a:t>  Source Page: https://commons.wikimedia.org/wiki/File:Tiffany_blue_box_1.jpg</a:t>
            </a:r>
          </a:p>
          <a:p>
            <a:r>
              <a:t>  Direct Download: https://upload.wikimedia.org/wikipedia/commons/e/e1/Tiffany_blue_box_1.jpg</a:t>
            </a:r>
          </a:p>
          <a:p>
            <a:r>
              <a:t>  Description: Photograph of a turquoise / light blue gift box tied with a light, silver-toned ribbon bow. Used as a classroom visual aid to discuss trademarked brand color and packaging presentation. The photograph shows visual appearance under ambient lighting rather than standardizing the exact proprietary Pantone 1837 formula.</a:t>
            </a:r>
          </a:p>
          <a:p/>
          <a:p>
            <a:r>
              <a:t>- Title: IKEA Blue and Yellow Warehouse Store Exterior</a:t>
            </a:r>
          </a:p>
          <a:p>
            <a:r>
              <a:t>  Asset ID: ikea-store-exterior</a:t>
            </a:r>
          </a:p>
          <a:p>
            <a:r>
              <a:t>  Creator: Ben MacLeod</a:t>
            </a:r>
          </a:p>
          <a:p>
            <a:r>
              <a:t>  License: CC BY-SA 4.0</a:t>
            </a:r>
          </a:p>
          <a:p>
            <a:r>
              <a:t>  License URL: https://creativecommons.org/licenses/by-sa/4.0</a:t>
            </a:r>
          </a:p>
          <a:p>
            <a:r>
              <a:t>  Source Page: https://commons.wikimedia.org/wiki/File:IKEA_Halifax_2019.jpg</a:t>
            </a:r>
          </a:p>
          <a:p>
            <a:r>
              <a:t>  Direct Download: https://upload.wikimedia.org/wikipedia/commons/3/36/IKEA_Halifax_2019.jpg</a:t>
            </a:r>
          </a:p>
          <a:p>
            <a:r>
              <a:t>  Description: Daylight photograph of an IKEA store building exterior in Halifax, Canada. Shows the blue warehouse exterior wall paired with the yellow entrance canopy, used as a classroom visual aid to analyze architectural color blocking and large-scale structural color application.</a:t>
            </a:r>
          </a:p>
          <a:p/>
          <a:p>
            <a:r>
              <a:t>- Title: IKEA Blue FRAKTA Shopping Bag</a:t>
            </a:r>
          </a:p>
          <a:p>
            <a:r>
              <a:t>  Asset ID: ikea-frakta-bag</a:t>
            </a:r>
          </a:p>
          <a:p>
            <a:r>
              <a:t>  Creator: Andrea014</a:t>
            </a:r>
          </a:p>
          <a:p>
            <a:r>
              <a:t>  License: CC BY-SA 3.0 de</a:t>
            </a:r>
          </a:p>
          <a:p>
            <a:r>
              <a:t>  License URL: https://creativecommons.org/licenses/by-sa/3.0/de/deed.en</a:t>
            </a:r>
          </a:p>
          <a:p>
            <a:r>
              <a:t>  Source Page: https://commons.wikimedia.org/wiki/File:IKEA-Tasche.JPG</a:t>
            </a:r>
          </a:p>
          <a:p>
            <a:r>
              <a:t>  Direct Download: https://upload.wikimedia.org/wikipedia/commons/a/ac/IKEA-Tasche.JPG</a:t>
            </a:r>
          </a:p>
          <a:p>
            <a:r>
              <a:t>  Description: Close-up photograph of a blue IKEA FRAKTA polypropylene carrier bag with woven yellow handles. Used as a classroom visual aid to examine utilitarian material texture, functional design, and blue-and-yellow color pairing.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ssets.marketingscience.info/different.pdf" TargetMode="External"/><Relationship Id="rId3" Type="http://schemas.openxmlformats.org/officeDocument/2006/relationships/hyperlink" Target="https://assets.marketingscience.info/Brand-Identity-QA.pdf" TargetMode="External"/><Relationship Id="rId4" Type="http://schemas.openxmlformats.org/officeDocument/2006/relationships/hyperlink" Target="https://marketingscience.info/news-and-insights/brands-of-distinction" TargetMode="External"/><Relationship Id="rId5" Type="http://schemas.openxmlformats.org/officeDocument/2006/relationships/hyperlink" Target="https://www.coca-colacompany.com/about-us/history/the-history-of-the-coca-cola-contour-bottle" TargetMode="External"/><Relationship Id="rId6" Type="http://schemas.openxmlformats.org/officeDocument/2006/relationships/hyperlink" Target="https://press.tiffany.com/our-story/tiffany-blue/" TargetMode="Externa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keamuseum.com/en/explore/the-story-of-ikea/history-of-the-logotype/" TargetMode="External"/><Relationship Id="rId3" Type="http://schemas.openxmlformats.org/officeDocument/2006/relationships/hyperlink" Target="https://ikeamuseum.com/en/explore/the-story-of-ikea/beloved-bag/" TargetMode="External"/><Relationship Id="rId4" Type="http://schemas.openxmlformats.org/officeDocument/2006/relationships/hyperlink" Target="https://www.nbcnews.com/id/wbna34111784" TargetMode="External"/><Relationship Id="rId5" Type="http://schemas.openxmlformats.org/officeDocument/2006/relationships/hyperlink" Target="https://www.cossette.com/en/blog/__temp_icoufkdgyfmhfyeayjfwwthtvmmmmbyghnhu" TargetMode="Externa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mmons.wikimedia.org/wiki/File:McDonald%27s_French_Fries_(2024).jpg" TargetMode="External"/><Relationship Id="rId3" Type="http://schemas.openxmlformats.org/officeDocument/2006/relationships/hyperlink" Target="https://creativecommons.org/licenses/by-sa/4.0" TargetMode="External"/><Relationship Id="rId4" Type="http://schemas.openxmlformats.org/officeDocument/2006/relationships/hyperlink" Target="https://www.cossette.com/en/blog/__temp_icoufkdgyfmhfyeayjfwwthtvmmmmbyghnhu" TargetMode="External"/><Relationship Id="rId5" Type="http://schemas.openxmlformats.org/officeDocument/2006/relationships/hyperlink" Target="https://commons.wikimedia.org/wiki/File:15-09-26-RalfR-WLC-0098_-_Coca-Cola_glass_bottle_(Germany).jpg" TargetMode="External"/><Relationship Id="rId6" Type="http://schemas.openxmlformats.org/officeDocument/2006/relationships/hyperlink" Target="https://commons.wikimedia.org/wiki/File:Coke_bottle_patent.png" TargetMode="Externa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mmons.wikimedia.org/wiki/File:Tiffany_blue_box_1.jpg" TargetMode="External"/><Relationship Id="rId3" Type="http://schemas.openxmlformats.org/officeDocument/2006/relationships/hyperlink" Target="https://creativecommons.org/licenses/by-sa/3.0" TargetMode="External"/><Relationship Id="rId4" Type="http://schemas.openxmlformats.org/officeDocument/2006/relationships/hyperlink" Target="https://commons.wikimedia.org/wiki/File:IKEA_Halifax_2019.jpg" TargetMode="External"/><Relationship Id="rId5" Type="http://schemas.openxmlformats.org/officeDocument/2006/relationships/hyperlink" Target="https://creativecommons.org/licenses/by-sa/4.0" TargetMode="External"/><Relationship Id="rId6" Type="http://schemas.openxmlformats.org/officeDocument/2006/relationships/hyperlink" Target="https://commons.wikimedia.org/wiki/File:IKEA-Tasche.JPG" TargetMode="External"/><Relationship Id="rId7" Type="http://schemas.openxmlformats.org/officeDocument/2006/relationships/hyperlink" Target="https://creativecommons.org/licenses/by-sa/3.0/de/deed.en" TargetMode="External"/><Relationship Id="rId8"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11680"/>
            <a:ext cx="10362895" cy="1828800"/>
          </a:xfrm>
          <a:prstGeom prst="rect">
            <a:avLst/>
          </a:prstGeom>
          <a:noFill/>
          <a:effectLst/>
        </p:spPr>
        <p:txBody>
          <a:bodyPr wrap="square" lIns="0" tIns="0" rIns="0" bIns="0">
            <a:spAutoFit/>
          </a:bodyPr>
          <a:lstStyle/>
          <a:p>
            <a:pPr algn="l">
              <a:spcAft>
                <a:spcPts val="1400"/>
              </a:spcAft>
              <a:defRPr sz="4000" b="1">
                <a:solidFill>
                  <a:srgbClr val="111827"/>
                </a:solidFill>
                <a:latin typeface="Arial"/>
              </a:defRPr>
            </a:pPr>
            <a:r>
              <a:t>Beyond the Logo</a:t>
            </a:r>
          </a:p>
          <a:p>
            <a:pPr algn="l">
              <a:spcAft>
                <a:spcPts val="600"/>
              </a:spcAft>
              <a:defRPr sz="2200" b="0">
                <a:solidFill>
                  <a:srgbClr val="4B5563"/>
                </a:solidFill>
                <a:latin typeface="Arial"/>
              </a:defRPr>
            </a:pPr>
            <a:r>
              <a:t>Visual clues that trigger brand recognition without a logo</a:t>
            </a:r>
          </a:p>
          <a:p>
            <a:pPr algn="l">
              <a:spcAft>
                <a:spcPts val="600"/>
              </a:spcAft>
              <a:defRPr sz="2200" b="0">
                <a:solidFill>
                  <a:srgbClr val="4B5563"/>
                </a:solidFill>
                <a:latin typeface="Arial"/>
              </a:defRPr>
            </a:pPr>
            <a:r>
              <a:t>How shapes, colors, and packaging help us identify brands</a:t>
            </a:r>
          </a:p>
        </p:txBody>
      </p:sp>
      <p:sp>
        <p:nvSpPr>
          <p:cNvPr id="3" name="Rectangle 2"/>
          <p:cNvSpPr/>
          <p:nvPr/>
        </p:nvSpPr>
        <p:spPr>
          <a:xfrm>
            <a:off x="914400" y="4114800"/>
            <a:ext cx="1645920" cy="109728"/>
          </a:xfrm>
          <a:prstGeom prst="rect">
            <a:avLst/>
          </a:prstGeom>
          <a:solidFill>
            <a:srgbClr val="DA291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2560320" y="4114800"/>
            <a:ext cx="1645920" cy="109728"/>
          </a:xfrm>
          <a:prstGeom prst="rect">
            <a:avLst/>
          </a:prstGeom>
          <a:solidFill>
            <a:srgbClr val="FFC7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206240" y="4114800"/>
            <a:ext cx="1645920" cy="109728"/>
          </a:xfrm>
          <a:prstGeom prst="rect">
            <a:avLst/>
          </a:prstGeom>
          <a:solidFill>
            <a:srgbClr val="81D8D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852160" y="4114800"/>
            <a:ext cx="1645920" cy="109728"/>
          </a:xfrm>
          <a:prstGeom prst="rect">
            <a:avLst/>
          </a:prstGeom>
          <a:solidFill>
            <a:srgbClr val="0058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4663440"/>
            <a:ext cx="5486400" cy="365760"/>
          </a:xfrm>
          <a:prstGeom prst="rect">
            <a:avLst/>
          </a:prstGeom>
          <a:noFill/>
          <a:effectLst/>
        </p:spPr>
        <p:txBody>
          <a:bodyPr wrap="square" lIns="0" tIns="0" rIns="0" bIns="0">
            <a:spAutoFit/>
          </a:bodyPr>
          <a:lstStyle/>
          <a:p>
            <a:pPr algn="l">
              <a:spcAft>
                <a:spcPts val="0"/>
              </a:spcAft>
              <a:defRPr sz="1500" b="0">
                <a:solidFill>
                  <a:srgbClr val="4B5563"/>
                </a:solidFill>
                <a:latin typeface="Arial"/>
              </a:defRPr>
            </a:pPr>
            <a:r>
              <a:t>Kaan Yazıcıoğlu &amp; Caner Akcasu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Visual Quiz: Can Color Alone Identify a Brand?</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[S1]</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2 of 25</a:t>
            </a:r>
          </a:p>
        </p:txBody>
      </p:sp>
      <p:sp>
        <p:nvSpPr>
          <p:cNvPr id="5" name="TextBox 4"/>
          <p:cNvSpPr txBox="1"/>
          <p:nvPr/>
        </p:nvSpPr>
        <p:spPr>
          <a:xfrm>
            <a:off x="731520" y="1737360"/>
            <a:ext cx="493776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Classroom illustration: Four plain color swatches with no logos</a:t>
            </a:r>
          </a:p>
          <a:p>
            <a:pPr algn="l">
              <a:spcAft>
                <a:spcPts val="1800"/>
              </a:spcAft>
              <a:defRPr sz="2400" b="0">
                <a:solidFill>
                  <a:srgbClr val="111827"/>
                </a:solidFill>
                <a:latin typeface="Arial"/>
              </a:defRPr>
            </a:pPr>
            <a:r>
              <a:t>Solid red, yellow, turquoise, and blue without shapes</a:t>
            </a:r>
          </a:p>
          <a:p>
            <a:pPr algn="l">
              <a:spcAft>
                <a:spcPts val="1800"/>
              </a:spcAft>
              <a:defRPr sz="2400" b="0">
                <a:solidFill>
                  <a:srgbClr val="111827"/>
                </a:solidFill>
                <a:latin typeface="Arial"/>
              </a:defRPr>
            </a:pPr>
            <a:r>
              <a:t>Can you name the brand behind each color?</a:t>
            </a:r>
          </a:p>
        </p:txBody>
      </p:sp>
      <p:sp>
        <p:nvSpPr>
          <p:cNvPr id="6" name="Rectangle 5"/>
          <p:cNvSpPr/>
          <p:nvPr/>
        </p:nvSpPr>
        <p:spPr>
          <a:xfrm>
            <a:off x="6035040" y="1737360"/>
            <a:ext cx="2468880" cy="1645920"/>
          </a:xfrm>
          <a:prstGeom prst="rect">
            <a:avLst/>
          </a:prstGeom>
          <a:solidFill>
            <a:srgbClr val="DA291C"/>
          </a:solidFill>
          <a:ln w="12700">
            <a:solidFill>
              <a:srgbClr val="DCDC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8778240" y="1737360"/>
            <a:ext cx="2468880" cy="1645920"/>
          </a:xfrm>
          <a:prstGeom prst="rect">
            <a:avLst/>
          </a:prstGeom>
          <a:solidFill>
            <a:srgbClr val="FFC72C"/>
          </a:solidFill>
          <a:ln w="12700">
            <a:solidFill>
              <a:srgbClr val="DCDC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035040" y="3566160"/>
            <a:ext cx="2468880" cy="1645920"/>
          </a:xfrm>
          <a:prstGeom prst="rect">
            <a:avLst/>
          </a:prstGeom>
          <a:solidFill>
            <a:srgbClr val="81D8D0"/>
          </a:solidFill>
          <a:ln w="12700">
            <a:solidFill>
              <a:srgbClr val="DCDC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8778240" y="3566160"/>
            <a:ext cx="2468880" cy="1645920"/>
          </a:xfrm>
          <a:prstGeom prst="rect">
            <a:avLst/>
          </a:prstGeom>
          <a:solidFill>
            <a:srgbClr val="0058A3"/>
          </a:solidFill>
          <a:ln w="12700">
            <a:solidFill>
              <a:srgbClr val="DCDC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Visual Quiz: Adding Product Shapes to Colors</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[S1], [S2]</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3 of 25</a:t>
            </a:r>
          </a:p>
        </p:txBody>
      </p:sp>
      <p:sp>
        <p:nvSpPr>
          <p:cNvPr id="5" name="TextBox 4"/>
          <p:cNvSpPr txBox="1"/>
          <p:nvPr/>
        </p:nvSpPr>
        <p:spPr>
          <a:xfrm>
            <a:off x="731520" y="1737360"/>
            <a:ext cx="475488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Classroom illustration: Silhouette and cropped packaging textures</a:t>
            </a:r>
          </a:p>
          <a:p>
            <a:pPr algn="l">
              <a:spcAft>
                <a:spcPts val="1800"/>
              </a:spcAft>
              <a:defRPr sz="2400" b="0">
                <a:solidFill>
                  <a:srgbClr val="111827"/>
                </a:solidFill>
                <a:latin typeface="Arial"/>
              </a:defRPr>
            </a:pPr>
            <a:r>
              <a:t>A bottle silhouette alongside fry carton, gift box, and tote textures</a:t>
            </a:r>
          </a:p>
          <a:p>
            <a:pPr algn="l">
              <a:spcAft>
                <a:spcPts val="1800"/>
              </a:spcAft>
              <a:defRPr sz="2400" b="0">
                <a:solidFill>
                  <a:srgbClr val="111827"/>
                </a:solidFill>
                <a:latin typeface="Arial"/>
              </a:defRPr>
            </a:pPr>
            <a:r>
              <a:t>Adding packaging shapes and textures narrows down the choices</a:t>
            </a:r>
          </a:p>
        </p:txBody>
      </p:sp>
      <p:sp>
        <p:nvSpPr>
          <p:cNvPr id="6" name="Rectangle 5"/>
          <p:cNvSpPr/>
          <p:nvPr/>
        </p:nvSpPr>
        <p:spPr>
          <a:xfrm>
            <a:off x="5852160" y="1737360"/>
            <a:ext cx="2606040" cy="1691640"/>
          </a:xfrm>
          <a:prstGeom prst="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7" name="Picture 6" descr="coca-cola-contour-bottle_silhouette.png"/>
          <p:cNvPicPr>
            <a:picLocks noChangeAspect="1"/>
          </p:cNvPicPr>
          <p:nvPr/>
        </p:nvPicPr>
        <p:blipFill>
          <a:blip r:embed="rId2"/>
          <a:stretch>
            <a:fillRect/>
          </a:stretch>
        </p:blipFill>
        <p:spPr>
          <a:xfrm>
            <a:off x="6820494" y="1810512"/>
            <a:ext cx="669370" cy="1545336"/>
          </a:xfrm>
          <a:prstGeom prst="rect">
            <a:avLst/>
          </a:prstGeom>
        </p:spPr>
      </p:pic>
      <p:sp>
        <p:nvSpPr>
          <p:cNvPr id="8" name="Rectangle 7"/>
          <p:cNvSpPr/>
          <p:nvPr/>
        </p:nvSpPr>
        <p:spPr>
          <a:xfrm>
            <a:off x="8732520" y="1737360"/>
            <a:ext cx="2606040" cy="1691640"/>
          </a:xfrm>
          <a:prstGeom prst="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mcdonalds_carton_quiz_crop.jpg"/>
          <p:cNvPicPr>
            <a:picLocks noChangeAspect="1"/>
          </p:cNvPicPr>
          <p:nvPr/>
        </p:nvPicPr>
        <p:blipFill>
          <a:blip r:embed="rId3"/>
          <a:stretch>
            <a:fillRect/>
          </a:stretch>
        </p:blipFill>
        <p:spPr>
          <a:xfrm>
            <a:off x="8805672" y="2040568"/>
            <a:ext cx="2459736" cy="1085222"/>
          </a:xfrm>
          <a:prstGeom prst="rect">
            <a:avLst/>
          </a:prstGeom>
        </p:spPr>
      </p:pic>
      <p:sp>
        <p:nvSpPr>
          <p:cNvPr id="10" name="Rectangle 9"/>
          <p:cNvSpPr/>
          <p:nvPr/>
        </p:nvSpPr>
        <p:spPr>
          <a:xfrm>
            <a:off x="5852160" y="3657600"/>
            <a:ext cx="2606040" cy="1691640"/>
          </a:xfrm>
          <a:prstGeom prst="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tiffany_box_quiz_crop.jpg"/>
          <p:cNvPicPr>
            <a:picLocks noChangeAspect="1"/>
          </p:cNvPicPr>
          <p:nvPr/>
        </p:nvPicPr>
        <p:blipFill>
          <a:blip r:embed="rId4"/>
          <a:stretch>
            <a:fillRect/>
          </a:stretch>
        </p:blipFill>
        <p:spPr>
          <a:xfrm>
            <a:off x="6056180" y="3730752"/>
            <a:ext cx="2197998" cy="1545336"/>
          </a:xfrm>
          <a:prstGeom prst="rect">
            <a:avLst/>
          </a:prstGeom>
        </p:spPr>
      </p:pic>
      <p:sp>
        <p:nvSpPr>
          <p:cNvPr id="12" name="Rectangle 11"/>
          <p:cNvSpPr/>
          <p:nvPr/>
        </p:nvSpPr>
        <p:spPr>
          <a:xfrm>
            <a:off x="8732520" y="3657600"/>
            <a:ext cx="2606040" cy="1691640"/>
          </a:xfrm>
          <a:prstGeom prst="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ikea_bag_quiz_crop.jpg"/>
          <p:cNvPicPr>
            <a:picLocks noChangeAspect="1"/>
          </p:cNvPicPr>
          <p:nvPr/>
        </p:nvPicPr>
        <p:blipFill>
          <a:blip r:embed="rId5"/>
          <a:stretch>
            <a:fillRect/>
          </a:stretch>
        </p:blipFill>
        <p:spPr>
          <a:xfrm>
            <a:off x="9309195" y="3730752"/>
            <a:ext cx="1452689" cy="154533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The Reveal: Learned Brand Connections in Daily Life</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[S1], [S2]</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4 of 25</a:t>
            </a:r>
          </a:p>
        </p:txBody>
      </p:sp>
      <p:sp>
        <p:nvSpPr>
          <p:cNvPr id="5" name="TextBox 4"/>
          <p:cNvSpPr txBox="1"/>
          <p:nvPr/>
        </p:nvSpPr>
        <p:spPr>
          <a:xfrm>
            <a:off x="731520" y="1645920"/>
            <a:ext cx="10728655" cy="502920"/>
          </a:xfrm>
          <a:prstGeom prst="rect">
            <a:avLst/>
          </a:prstGeom>
          <a:noFill/>
          <a:effectLst/>
        </p:spPr>
        <p:txBody>
          <a:bodyPr wrap="square" lIns="0" tIns="0" rIns="0" bIns="0">
            <a:spAutoFit/>
          </a:bodyPr>
          <a:lstStyle/>
          <a:p>
            <a:pPr algn="l">
              <a:spcAft>
                <a:spcPts val="0"/>
              </a:spcAft>
              <a:defRPr sz="1700" b="0">
                <a:solidFill>
                  <a:srgbClr val="4B5563"/>
                </a:solidFill>
                <a:latin typeface="Arial"/>
              </a:defRPr>
            </a:pPr>
            <a:r>
              <a:t>Recognition comes from repeated exposure during everyday shopping · Familiar shapes and colors trigger brand memory without names</a:t>
            </a:r>
          </a:p>
        </p:txBody>
      </p:sp>
      <p:pic>
        <p:nvPicPr>
          <p:cNvPr id="6" name="Picture 5" descr="coca-cola-contour-bottle.jpg"/>
          <p:cNvPicPr>
            <a:picLocks noChangeAspect="1"/>
          </p:cNvPicPr>
          <p:nvPr/>
        </p:nvPicPr>
        <p:blipFill>
          <a:blip r:embed="rId2"/>
          <a:stretch>
            <a:fillRect/>
          </a:stretch>
        </p:blipFill>
        <p:spPr>
          <a:xfrm>
            <a:off x="1243991" y="2286000"/>
            <a:ext cx="1443937" cy="2560320"/>
          </a:xfrm>
          <a:prstGeom prst="rect">
            <a:avLst/>
          </a:prstGeom>
        </p:spPr>
      </p:pic>
      <p:sp>
        <p:nvSpPr>
          <p:cNvPr id="7" name="TextBox 6"/>
          <p:cNvSpPr txBox="1"/>
          <p:nvPr/>
        </p:nvSpPr>
        <p:spPr>
          <a:xfrm>
            <a:off x="731520" y="4983480"/>
            <a:ext cx="2468880" cy="365760"/>
          </a:xfrm>
          <a:prstGeom prst="rect">
            <a:avLst/>
          </a:prstGeom>
          <a:noFill/>
          <a:effectLst/>
        </p:spPr>
        <p:txBody>
          <a:bodyPr wrap="square" lIns="0" tIns="0" rIns="0" bIns="0">
            <a:spAutoFit/>
          </a:bodyPr>
          <a:lstStyle/>
          <a:p>
            <a:pPr algn="ctr">
              <a:spcAft>
                <a:spcPts val="0"/>
              </a:spcAft>
              <a:defRPr sz="2200" b="1">
                <a:solidFill>
                  <a:srgbClr val="111827"/>
                </a:solidFill>
                <a:latin typeface="Arial"/>
              </a:defRPr>
            </a:pPr>
            <a:r>
              <a:t>Coca-Cola</a:t>
            </a:r>
          </a:p>
        </p:txBody>
      </p:sp>
      <p:sp>
        <p:nvSpPr>
          <p:cNvPr id="8" name="TextBox 7"/>
          <p:cNvSpPr txBox="1"/>
          <p:nvPr/>
        </p:nvSpPr>
        <p:spPr>
          <a:xfrm>
            <a:off x="731520" y="5349240"/>
            <a:ext cx="2468880" cy="274320"/>
          </a:xfrm>
          <a:prstGeom prst="rect">
            <a:avLst/>
          </a:prstGeom>
          <a:noFill/>
          <a:effectLst/>
        </p:spPr>
        <p:txBody>
          <a:bodyPr wrap="square" lIns="0" tIns="0" rIns="0" bIns="0">
            <a:spAutoFit/>
          </a:bodyPr>
          <a:lstStyle/>
          <a:p>
            <a:pPr algn="ctr">
              <a:spcAft>
                <a:spcPts val="0"/>
              </a:spcAft>
              <a:defRPr sz="1200" b="0">
                <a:solidFill>
                  <a:srgbClr val="6B7280"/>
                </a:solidFill>
                <a:latin typeface="Arial"/>
              </a:defRPr>
            </a:pPr>
            <a:r>
              <a:t>Contour Glass Bottle</a:t>
            </a:r>
          </a:p>
        </p:txBody>
      </p:sp>
      <p:pic>
        <p:nvPicPr>
          <p:cNvPr id="9" name="Picture 8" descr="mcdonalds-fries-packaging.jpg"/>
          <p:cNvPicPr>
            <a:picLocks noChangeAspect="1"/>
          </p:cNvPicPr>
          <p:nvPr/>
        </p:nvPicPr>
        <p:blipFill>
          <a:blip r:embed="rId3"/>
          <a:stretch>
            <a:fillRect/>
          </a:stretch>
        </p:blipFill>
        <p:spPr>
          <a:xfrm>
            <a:off x="3880502" y="2286000"/>
            <a:ext cx="1657314" cy="2560320"/>
          </a:xfrm>
          <a:prstGeom prst="rect">
            <a:avLst/>
          </a:prstGeom>
        </p:spPr>
      </p:pic>
      <p:sp>
        <p:nvSpPr>
          <p:cNvPr id="10" name="TextBox 9"/>
          <p:cNvSpPr txBox="1"/>
          <p:nvPr/>
        </p:nvSpPr>
        <p:spPr>
          <a:xfrm>
            <a:off x="3474720" y="4983480"/>
            <a:ext cx="2468880" cy="365760"/>
          </a:xfrm>
          <a:prstGeom prst="rect">
            <a:avLst/>
          </a:prstGeom>
          <a:noFill/>
          <a:effectLst/>
        </p:spPr>
        <p:txBody>
          <a:bodyPr wrap="square" lIns="0" tIns="0" rIns="0" bIns="0">
            <a:spAutoFit/>
          </a:bodyPr>
          <a:lstStyle/>
          <a:p>
            <a:pPr algn="ctr">
              <a:spcAft>
                <a:spcPts val="0"/>
              </a:spcAft>
              <a:defRPr sz="2200" b="1">
                <a:solidFill>
                  <a:srgbClr val="111827"/>
                </a:solidFill>
                <a:latin typeface="Arial"/>
              </a:defRPr>
            </a:pPr>
            <a:r>
              <a:t>McDonald's</a:t>
            </a:r>
          </a:p>
        </p:txBody>
      </p:sp>
      <p:sp>
        <p:nvSpPr>
          <p:cNvPr id="11" name="TextBox 10"/>
          <p:cNvSpPr txBox="1"/>
          <p:nvPr/>
        </p:nvSpPr>
        <p:spPr>
          <a:xfrm>
            <a:off x="3474720" y="5349240"/>
            <a:ext cx="2468880" cy="274320"/>
          </a:xfrm>
          <a:prstGeom prst="rect">
            <a:avLst/>
          </a:prstGeom>
          <a:noFill/>
          <a:effectLst/>
        </p:spPr>
        <p:txBody>
          <a:bodyPr wrap="square" lIns="0" tIns="0" rIns="0" bIns="0">
            <a:spAutoFit/>
          </a:bodyPr>
          <a:lstStyle/>
          <a:p>
            <a:pPr algn="ctr">
              <a:spcAft>
                <a:spcPts val="0"/>
              </a:spcAft>
              <a:defRPr sz="1200" b="0">
                <a:solidFill>
                  <a:srgbClr val="6B7280"/>
                </a:solidFill>
                <a:latin typeface="Arial"/>
              </a:defRPr>
            </a:pPr>
            <a:r>
              <a:t>Red Fry Packaging</a:t>
            </a:r>
          </a:p>
        </p:txBody>
      </p:sp>
      <p:pic>
        <p:nvPicPr>
          <p:cNvPr id="12" name="Picture 11" descr="tiffany-blue-box.jpg"/>
          <p:cNvPicPr>
            <a:picLocks noChangeAspect="1"/>
          </p:cNvPicPr>
          <p:nvPr/>
        </p:nvPicPr>
        <p:blipFill>
          <a:blip r:embed="rId4"/>
          <a:stretch>
            <a:fillRect/>
          </a:stretch>
        </p:blipFill>
        <p:spPr>
          <a:xfrm>
            <a:off x="6217920" y="2640330"/>
            <a:ext cx="2468880" cy="1851660"/>
          </a:xfrm>
          <a:prstGeom prst="rect">
            <a:avLst/>
          </a:prstGeom>
        </p:spPr>
      </p:pic>
      <p:sp>
        <p:nvSpPr>
          <p:cNvPr id="13" name="TextBox 12"/>
          <p:cNvSpPr txBox="1"/>
          <p:nvPr/>
        </p:nvSpPr>
        <p:spPr>
          <a:xfrm>
            <a:off x="6217920" y="4983480"/>
            <a:ext cx="2468880" cy="365760"/>
          </a:xfrm>
          <a:prstGeom prst="rect">
            <a:avLst/>
          </a:prstGeom>
          <a:noFill/>
          <a:effectLst/>
        </p:spPr>
        <p:txBody>
          <a:bodyPr wrap="square" lIns="0" tIns="0" rIns="0" bIns="0">
            <a:spAutoFit/>
          </a:bodyPr>
          <a:lstStyle/>
          <a:p>
            <a:pPr algn="ctr">
              <a:spcAft>
                <a:spcPts val="0"/>
              </a:spcAft>
              <a:defRPr sz="2200" b="1">
                <a:solidFill>
                  <a:srgbClr val="111827"/>
                </a:solidFill>
                <a:latin typeface="Arial"/>
              </a:defRPr>
            </a:pPr>
            <a:r>
              <a:t>Tiffany &amp; Co.</a:t>
            </a:r>
          </a:p>
        </p:txBody>
      </p:sp>
      <p:sp>
        <p:nvSpPr>
          <p:cNvPr id="14" name="TextBox 13"/>
          <p:cNvSpPr txBox="1"/>
          <p:nvPr/>
        </p:nvSpPr>
        <p:spPr>
          <a:xfrm>
            <a:off x="6217920" y="5349240"/>
            <a:ext cx="2468880" cy="274320"/>
          </a:xfrm>
          <a:prstGeom prst="rect">
            <a:avLst/>
          </a:prstGeom>
          <a:noFill/>
          <a:effectLst/>
        </p:spPr>
        <p:txBody>
          <a:bodyPr wrap="square" lIns="0" tIns="0" rIns="0" bIns="0">
            <a:spAutoFit/>
          </a:bodyPr>
          <a:lstStyle/>
          <a:p>
            <a:pPr algn="ctr">
              <a:spcAft>
                <a:spcPts val="0"/>
              </a:spcAft>
              <a:defRPr sz="1200" b="0">
                <a:solidFill>
                  <a:srgbClr val="6B7280"/>
                </a:solidFill>
                <a:latin typeface="Arial"/>
              </a:defRPr>
            </a:pPr>
            <a:r>
              <a:t>Tiffany Blue Box</a:t>
            </a:r>
          </a:p>
        </p:txBody>
      </p:sp>
      <p:pic>
        <p:nvPicPr>
          <p:cNvPr id="15" name="Picture 14" descr="ikea-frakta-bag.jpg"/>
          <p:cNvPicPr>
            <a:picLocks noChangeAspect="1"/>
          </p:cNvPicPr>
          <p:nvPr/>
        </p:nvPicPr>
        <p:blipFill>
          <a:blip r:embed="rId5"/>
          <a:stretch>
            <a:fillRect/>
          </a:stretch>
        </p:blipFill>
        <p:spPr>
          <a:xfrm>
            <a:off x="8961120" y="2640330"/>
            <a:ext cx="2468880" cy="1851660"/>
          </a:xfrm>
          <a:prstGeom prst="rect">
            <a:avLst/>
          </a:prstGeom>
        </p:spPr>
      </p:pic>
      <p:sp>
        <p:nvSpPr>
          <p:cNvPr id="16" name="TextBox 15"/>
          <p:cNvSpPr txBox="1"/>
          <p:nvPr/>
        </p:nvSpPr>
        <p:spPr>
          <a:xfrm>
            <a:off x="8961120" y="4983480"/>
            <a:ext cx="2468880" cy="365760"/>
          </a:xfrm>
          <a:prstGeom prst="rect">
            <a:avLst/>
          </a:prstGeom>
          <a:noFill/>
          <a:effectLst/>
        </p:spPr>
        <p:txBody>
          <a:bodyPr wrap="square" lIns="0" tIns="0" rIns="0" bIns="0">
            <a:spAutoFit/>
          </a:bodyPr>
          <a:lstStyle/>
          <a:p>
            <a:pPr algn="ctr">
              <a:spcAft>
                <a:spcPts val="0"/>
              </a:spcAft>
              <a:defRPr sz="2200" b="1">
                <a:solidFill>
                  <a:srgbClr val="111827"/>
                </a:solidFill>
                <a:latin typeface="Arial"/>
              </a:defRPr>
            </a:pPr>
            <a:r>
              <a:t>IKEA</a:t>
            </a:r>
          </a:p>
        </p:txBody>
      </p:sp>
      <p:sp>
        <p:nvSpPr>
          <p:cNvPr id="17" name="TextBox 16"/>
          <p:cNvSpPr txBox="1"/>
          <p:nvPr/>
        </p:nvSpPr>
        <p:spPr>
          <a:xfrm>
            <a:off x="8961120" y="5349240"/>
            <a:ext cx="2468880" cy="274320"/>
          </a:xfrm>
          <a:prstGeom prst="rect">
            <a:avLst/>
          </a:prstGeom>
          <a:noFill/>
          <a:effectLst/>
        </p:spPr>
        <p:txBody>
          <a:bodyPr wrap="square" lIns="0" tIns="0" rIns="0" bIns="0">
            <a:spAutoFit/>
          </a:bodyPr>
          <a:lstStyle/>
          <a:p>
            <a:pPr algn="ctr">
              <a:spcAft>
                <a:spcPts val="0"/>
              </a:spcAft>
              <a:defRPr sz="1200" b="0">
                <a:solidFill>
                  <a:srgbClr val="6B7280"/>
                </a:solidFill>
                <a:latin typeface="Arial"/>
              </a:defRPr>
            </a:pPr>
            <a:r>
              <a:t>FRAKTA Shopping Bag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How Brand Memory Works: Context Beats Color Myths</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[S1]</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5 of 25</a:t>
            </a:r>
          </a:p>
        </p:txBody>
      </p:sp>
      <p:sp>
        <p:nvSpPr>
          <p:cNvPr id="5" name="TextBox 4"/>
          <p:cNvSpPr txBox="1"/>
          <p:nvPr/>
        </p:nvSpPr>
        <p:spPr>
          <a:xfrm>
            <a:off x="731520" y="1737360"/>
            <a:ext cx="493776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Popular assumptions claim colors carry fixed commercial meanings</a:t>
            </a:r>
          </a:p>
          <a:p>
            <a:pPr algn="l">
              <a:spcAft>
                <a:spcPts val="1800"/>
              </a:spcAft>
              <a:defRPr sz="2400" b="0">
                <a:solidFill>
                  <a:srgbClr val="111827"/>
                </a:solidFill>
                <a:latin typeface="Arial"/>
              </a:defRPr>
            </a:pPr>
            <a:r>
              <a:t>Marketing research shows brand recognition comes from consistent use</a:t>
            </a:r>
          </a:p>
          <a:p>
            <a:pPr algn="l">
              <a:spcAft>
                <a:spcPts val="1800"/>
              </a:spcAft>
              <a:defRPr sz="2400" b="0">
                <a:solidFill>
                  <a:srgbClr val="111827"/>
                </a:solidFill>
                <a:latin typeface="Arial"/>
              </a:defRPr>
            </a:pPr>
            <a:r>
              <a:t>Context and learned familiarity turn colors into reliable shortcuts</a:t>
            </a:r>
          </a:p>
        </p:txBody>
      </p:sp>
      <p:sp>
        <p:nvSpPr>
          <p:cNvPr id="6" name="Rounded Rectangle 5"/>
          <p:cNvSpPr/>
          <p:nvPr/>
        </p:nvSpPr>
        <p:spPr>
          <a:xfrm>
            <a:off x="6035040" y="1783080"/>
            <a:ext cx="5394960" cy="868680"/>
          </a:xfrm>
          <a:prstGeom prst="round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0" y="2011680"/>
            <a:ext cx="5029200" cy="457200"/>
          </a:xfrm>
          <a:prstGeom prst="rect">
            <a:avLst/>
          </a:prstGeom>
          <a:noFill/>
          <a:effectLst/>
        </p:spPr>
        <p:txBody>
          <a:bodyPr wrap="square" lIns="0" tIns="0" rIns="0" bIns="0">
            <a:spAutoFit/>
          </a:bodyPr>
          <a:lstStyle/>
          <a:p>
            <a:pPr algn="l">
              <a:spcAft>
                <a:spcPts val="0"/>
              </a:spcAft>
              <a:defRPr sz="2000" b="1">
                <a:solidFill>
                  <a:srgbClr val="111827"/>
                </a:solidFill>
                <a:latin typeface="Arial"/>
              </a:defRPr>
            </a:pPr>
            <a:r>
              <a:t>1. Repeated Exposure</a:t>
            </a:r>
          </a:p>
        </p:txBody>
      </p:sp>
      <p:sp>
        <p:nvSpPr>
          <p:cNvPr id="8" name="TextBox 7"/>
          <p:cNvSpPr txBox="1"/>
          <p:nvPr/>
        </p:nvSpPr>
        <p:spPr>
          <a:xfrm>
            <a:off x="6035040" y="2651760"/>
            <a:ext cx="5394960" cy="320040"/>
          </a:xfrm>
          <a:prstGeom prst="rect">
            <a:avLst/>
          </a:prstGeom>
          <a:noFill/>
          <a:effectLst/>
        </p:spPr>
        <p:txBody>
          <a:bodyPr wrap="square" lIns="0" tIns="0" rIns="0" bIns="0">
            <a:spAutoFit/>
          </a:bodyPr>
          <a:lstStyle/>
          <a:p>
            <a:pPr algn="ctr">
              <a:spcAft>
                <a:spcPts val="0"/>
              </a:spcAft>
              <a:defRPr sz="2200" b="1">
                <a:solidFill>
                  <a:srgbClr val="9CA3AF"/>
                </a:solidFill>
                <a:latin typeface="Arial"/>
              </a:defRPr>
            </a:pPr>
            <a:r>
              <a:t>↓</a:t>
            </a:r>
          </a:p>
        </p:txBody>
      </p:sp>
      <p:sp>
        <p:nvSpPr>
          <p:cNvPr id="9" name="Rounded Rectangle 8"/>
          <p:cNvSpPr/>
          <p:nvPr/>
        </p:nvSpPr>
        <p:spPr>
          <a:xfrm>
            <a:off x="6035040" y="2971800"/>
            <a:ext cx="5394960" cy="868680"/>
          </a:xfrm>
          <a:prstGeom prst="round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217920" y="3200400"/>
            <a:ext cx="5029200" cy="457200"/>
          </a:xfrm>
          <a:prstGeom prst="rect">
            <a:avLst/>
          </a:prstGeom>
          <a:noFill/>
          <a:effectLst/>
        </p:spPr>
        <p:txBody>
          <a:bodyPr wrap="square" lIns="0" tIns="0" rIns="0" bIns="0">
            <a:spAutoFit/>
          </a:bodyPr>
          <a:lstStyle/>
          <a:p>
            <a:pPr algn="l">
              <a:spcAft>
                <a:spcPts val="0"/>
              </a:spcAft>
              <a:defRPr sz="2000" b="1">
                <a:solidFill>
                  <a:srgbClr val="111827"/>
                </a:solidFill>
                <a:latin typeface="Arial"/>
              </a:defRPr>
            </a:pPr>
            <a:r>
              <a:t>2. Familiar Visual Clue</a:t>
            </a:r>
          </a:p>
        </p:txBody>
      </p:sp>
      <p:sp>
        <p:nvSpPr>
          <p:cNvPr id="11" name="TextBox 10"/>
          <p:cNvSpPr txBox="1"/>
          <p:nvPr/>
        </p:nvSpPr>
        <p:spPr>
          <a:xfrm>
            <a:off x="6035040" y="3840480"/>
            <a:ext cx="5394960" cy="320040"/>
          </a:xfrm>
          <a:prstGeom prst="rect">
            <a:avLst/>
          </a:prstGeom>
          <a:noFill/>
          <a:effectLst/>
        </p:spPr>
        <p:txBody>
          <a:bodyPr wrap="square" lIns="0" tIns="0" rIns="0" bIns="0">
            <a:spAutoFit/>
          </a:bodyPr>
          <a:lstStyle/>
          <a:p>
            <a:pPr algn="ctr">
              <a:spcAft>
                <a:spcPts val="0"/>
              </a:spcAft>
              <a:defRPr sz="2200" b="1">
                <a:solidFill>
                  <a:srgbClr val="9CA3AF"/>
                </a:solidFill>
                <a:latin typeface="Arial"/>
              </a:defRPr>
            </a:pPr>
            <a:r>
              <a:t>↓</a:t>
            </a:r>
          </a:p>
        </p:txBody>
      </p:sp>
      <p:sp>
        <p:nvSpPr>
          <p:cNvPr id="12" name="Rounded Rectangle 11"/>
          <p:cNvSpPr/>
          <p:nvPr/>
        </p:nvSpPr>
        <p:spPr>
          <a:xfrm>
            <a:off x="6035040" y="4160520"/>
            <a:ext cx="5394960" cy="868680"/>
          </a:xfrm>
          <a:prstGeom prst="roundRect">
            <a:avLst/>
          </a:prstGeom>
          <a:solidFill>
            <a:srgbClr val="EFF6FF"/>
          </a:solidFill>
          <a:ln w="12700">
            <a:solidFill>
              <a:srgbClr val="93C5F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217920" y="4389120"/>
            <a:ext cx="5029200" cy="457200"/>
          </a:xfrm>
          <a:prstGeom prst="rect">
            <a:avLst/>
          </a:prstGeom>
          <a:noFill/>
          <a:effectLst/>
        </p:spPr>
        <p:txBody>
          <a:bodyPr wrap="square" lIns="0" tIns="0" rIns="0" bIns="0">
            <a:spAutoFit/>
          </a:bodyPr>
          <a:lstStyle/>
          <a:p>
            <a:pPr algn="l">
              <a:spcAft>
                <a:spcPts val="0"/>
              </a:spcAft>
              <a:defRPr sz="2000" b="1">
                <a:solidFill>
                  <a:srgbClr val="1E40AF"/>
                </a:solidFill>
                <a:latin typeface="Arial"/>
              </a:defRPr>
            </a:pPr>
            <a:r>
              <a:t>3. Possible Brand Recognition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Case 1: Coca-Cola and the 1915 Bottle Challenge</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[S4]</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6 of 25</a:t>
            </a:r>
          </a:p>
        </p:txBody>
      </p:sp>
      <p:sp>
        <p:nvSpPr>
          <p:cNvPr id="5" name="TextBox 4"/>
          <p:cNvSpPr txBox="1"/>
          <p:nvPr/>
        </p:nvSpPr>
        <p:spPr>
          <a:xfrm>
            <a:off x="731520" y="1737360"/>
            <a:ext cx="493776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Soft drinks in 1915 used plain straight-sided bottles</a:t>
            </a:r>
          </a:p>
          <a:p>
            <a:pPr algn="l">
              <a:spcAft>
                <a:spcPts val="1800"/>
              </a:spcAft>
              <a:defRPr sz="2400" b="0">
                <a:solidFill>
                  <a:srgbClr val="111827"/>
                </a:solidFill>
                <a:latin typeface="Arial"/>
              </a:defRPr>
            </a:pPr>
            <a:r>
              <a:t>Design brief asked for a bottle recognized by touch</a:t>
            </a:r>
          </a:p>
          <a:p>
            <a:pPr algn="l">
              <a:spcAft>
                <a:spcPts val="1800"/>
              </a:spcAft>
              <a:defRPr sz="2400" b="0">
                <a:solidFill>
                  <a:srgbClr val="111827"/>
                </a:solidFill>
                <a:latin typeface="Arial"/>
              </a:defRPr>
            </a:pPr>
            <a:r>
              <a:t>Goal: recognize the bottle without seeing its label</a:t>
            </a:r>
          </a:p>
        </p:txBody>
      </p:sp>
      <p:pic>
        <p:nvPicPr>
          <p:cNvPr id="6" name="Picture 5" descr="coca-cola-contour-bottle.jpg"/>
          <p:cNvPicPr>
            <a:picLocks noChangeAspect="1"/>
          </p:cNvPicPr>
          <p:nvPr/>
        </p:nvPicPr>
        <p:blipFill>
          <a:blip r:embed="rId2"/>
          <a:stretch>
            <a:fillRect/>
          </a:stretch>
        </p:blipFill>
        <p:spPr>
          <a:xfrm>
            <a:off x="7532342" y="1737360"/>
            <a:ext cx="2217474" cy="3931920"/>
          </a:xfrm>
          <a:prstGeom prst="rect">
            <a:avLst/>
          </a:prstGeom>
        </p:spPr>
      </p:pic>
      <p:sp>
        <p:nvSpPr>
          <p:cNvPr id="7" name="TextBox 6"/>
          <p:cNvSpPr txBox="1"/>
          <p:nvPr/>
        </p:nvSpPr>
        <p:spPr>
          <a:xfrm>
            <a:off x="6035040" y="5742432"/>
            <a:ext cx="5212080" cy="320040"/>
          </a:xfrm>
          <a:prstGeom prst="rect">
            <a:avLst/>
          </a:prstGeom>
          <a:noFill/>
          <a:effectLst/>
        </p:spPr>
        <p:txBody>
          <a:bodyPr wrap="square" lIns="0" tIns="0" rIns="0" bIns="0">
            <a:spAutoFit/>
          </a:bodyPr>
          <a:lstStyle/>
          <a:p>
            <a:pPr algn="ctr">
              <a:spcAft>
                <a:spcPts val="0"/>
              </a:spcAft>
              <a:defRPr sz="1200" b="0">
                <a:solidFill>
                  <a:srgbClr val="4B5563"/>
                </a:solidFill>
                <a:latin typeface="Arial"/>
              </a:defRPr>
            </a:pPr>
            <a:r>
              <a:t>Original contour glass bottle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Coca-Cola: The 1915 Fluted Bottle Design</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[S4]</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7 of 25</a:t>
            </a:r>
          </a:p>
        </p:txBody>
      </p:sp>
      <p:sp>
        <p:nvSpPr>
          <p:cNvPr id="5" name="TextBox 4"/>
          <p:cNvSpPr txBox="1"/>
          <p:nvPr/>
        </p:nvSpPr>
        <p:spPr>
          <a:xfrm>
            <a:off x="731520" y="1737360"/>
            <a:ext cx="493776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Original patent granted on November 16, 1915</a:t>
            </a:r>
          </a:p>
          <a:p>
            <a:pPr algn="l">
              <a:spcAft>
                <a:spcPts val="1800"/>
              </a:spcAft>
              <a:defRPr sz="2400" b="0">
                <a:solidFill>
                  <a:srgbClr val="111827"/>
                </a:solidFill>
                <a:latin typeface="Arial"/>
              </a:defRPr>
            </a:pPr>
            <a:r>
              <a:t>Design inspired by the curved lines of a cocoa bean</a:t>
            </a:r>
          </a:p>
          <a:p>
            <a:pPr algn="l">
              <a:spcAft>
                <a:spcPts val="1800"/>
              </a:spcAft>
              <a:defRPr sz="2400" b="0">
                <a:solidFill>
                  <a:srgbClr val="111827"/>
                </a:solidFill>
                <a:latin typeface="Arial"/>
              </a:defRPr>
            </a:pPr>
            <a:r>
              <a:t>Vertical ribs and curved sides create a clear shape</a:t>
            </a:r>
          </a:p>
        </p:txBody>
      </p:sp>
      <p:pic>
        <p:nvPicPr>
          <p:cNvPr id="6" name="Picture 5" descr="coca-cola-bottle-patent-1915.png"/>
          <p:cNvPicPr>
            <a:picLocks noChangeAspect="1"/>
          </p:cNvPicPr>
          <p:nvPr/>
        </p:nvPicPr>
        <p:blipFill>
          <a:blip r:embed="rId2"/>
          <a:stretch>
            <a:fillRect/>
          </a:stretch>
        </p:blipFill>
        <p:spPr>
          <a:xfrm>
            <a:off x="7445848" y="1737360"/>
            <a:ext cx="2390462" cy="3931920"/>
          </a:xfrm>
          <a:prstGeom prst="rect">
            <a:avLst/>
          </a:prstGeom>
        </p:spPr>
      </p:pic>
      <p:sp>
        <p:nvSpPr>
          <p:cNvPr id="7" name="TextBox 6"/>
          <p:cNvSpPr txBox="1"/>
          <p:nvPr/>
        </p:nvSpPr>
        <p:spPr>
          <a:xfrm>
            <a:off x="6035040" y="5742432"/>
            <a:ext cx="5212080" cy="320040"/>
          </a:xfrm>
          <a:prstGeom prst="rect">
            <a:avLst/>
          </a:prstGeom>
          <a:noFill/>
          <a:effectLst/>
        </p:spPr>
        <p:txBody>
          <a:bodyPr wrap="square" lIns="0" tIns="0" rIns="0" bIns="0">
            <a:spAutoFit/>
          </a:bodyPr>
          <a:lstStyle/>
          <a:p>
            <a:pPr algn="ctr">
              <a:spcAft>
                <a:spcPts val="0"/>
              </a:spcAft>
              <a:defRPr sz="1200" b="0">
                <a:solidFill>
                  <a:srgbClr val="4B5563"/>
                </a:solidFill>
                <a:latin typeface="Arial"/>
              </a:defRPr>
            </a:pPr>
            <a:r>
              <a:t>US Design Patent D48,160 (Nov 16, 1915)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Shape Still Matters Without Color</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[S4]</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8 of 25</a:t>
            </a:r>
          </a:p>
        </p:txBody>
      </p:sp>
      <p:sp>
        <p:nvSpPr>
          <p:cNvPr id="5" name="TextBox 4"/>
          <p:cNvSpPr txBox="1"/>
          <p:nvPr/>
        </p:nvSpPr>
        <p:spPr>
          <a:xfrm>
            <a:off x="731520" y="1737360"/>
            <a:ext cx="475488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Comparing the bottle silhouette with the patent drawing</a:t>
            </a:r>
          </a:p>
          <a:p>
            <a:pPr algn="l">
              <a:spcAft>
                <a:spcPts val="1800"/>
              </a:spcAft>
              <a:defRPr sz="2400" b="0">
                <a:solidFill>
                  <a:srgbClr val="111827"/>
                </a:solidFill>
                <a:latin typeface="Arial"/>
              </a:defRPr>
            </a:pPr>
            <a:r>
              <a:t>The fluted bottle silhouette stays recognizable in black and white</a:t>
            </a:r>
          </a:p>
          <a:p>
            <a:pPr algn="l">
              <a:spcAft>
                <a:spcPts val="1800"/>
              </a:spcAft>
              <a:defRPr sz="2400" b="0">
                <a:solidFill>
                  <a:srgbClr val="111827"/>
                </a:solidFill>
                <a:latin typeface="Arial"/>
              </a:defRPr>
            </a:pPr>
            <a:r>
              <a:t>A familiar shape can remain a useful clue</a:t>
            </a:r>
          </a:p>
        </p:txBody>
      </p:sp>
      <p:pic>
        <p:nvPicPr>
          <p:cNvPr id="6" name="Picture 5" descr="coca-cola-contour-bottle_silhouette.png"/>
          <p:cNvPicPr>
            <a:picLocks noChangeAspect="1"/>
          </p:cNvPicPr>
          <p:nvPr/>
        </p:nvPicPr>
        <p:blipFill>
          <a:blip r:embed="rId2"/>
          <a:stretch>
            <a:fillRect/>
          </a:stretch>
        </p:blipFill>
        <p:spPr>
          <a:xfrm>
            <a:off x="6422437" y="1737360"/>
            <a:ext cx="1465484" cy="3383280"/>
          </a:xfrm>
          <a:prstGeom prst="rect">
            <a:avLst/>
          </a:prstGeom>
        </p:spPr>
      </p:pic>
      <p:pic>
        <p:nvPicPr>
          <p:cNvPr id="7" name="Picture 6" descr="coca-cola-bottle-patent-1915.png"/>
          <p:cNvPicPr>
            <a:picLocks noChangeAspect="1"/>
          </p:cNvPicPr>
          <p:nvPr/>
        </p:nvPicPr>
        <p:blipFill>
          <a:blip r:embed="rId3"/>
          <a:stretch>
            <a:fillRect/>
          </a:stretch>
        </p:blipFill>
        <p:spPr>
          <a:xfrm>
            <a:off x="9007085" y="1737360"/>
            <a:ext cx="2056909" cy="3383280"/>
          </a:xfrm>
          <a:prstGeom prst="rect">
            <a:avLst/>
          </a:prstGeom>
        </p:spPr>
      </p:pic>
      <p:sp>
        <p:nvSpPr>
          <p:cNvPr id="8" name="TextBox 7"/>
          <p:cNvSpPr txBox="1"/>
          <p:nvPr/>
        </p:nvSpPr>
        <p:spPr>
          <a:xfrm>
            <a:off x="5852160" y="5212080"/>
            <a:ext cx="2606040" cy="274320"/>
          </a:xfrm>
          <a:prstGeom prst="rect">
            <a:avLst/>
          </a:prstGeom>
          <a:noFill/>
          <a:effectLst/>
        </p:spPr>
        <p:txBody>
          <a:bodyPr wrap="square" lIns="0" tIns="0" rIns="0" bIns="0">
            <a:spAutoFit/>
          </a:bodyPr>
          <a:lstStyle/>
          <a:p>
            <a:pPr algn="ctr">
              <a:spcAft>
                <a:spcPts val="0"/>
              </a:spcAft>
              <a:defRPr sz="1200" b="1">
                <a:solidFill>
                  <a:srgbClr val="111827"/>
                </a:solidFill>
                <a:latin typeface="Arial"/>
              </a:defRPr>
            </a:pPr>
            <a:r>
              <a:t>Photo-derived silhouette</a:t>
            </a:r>
          </a:p>
        </p:txBody>
      </p:sp>
      <p:sp>
        <p:nvSpPr>
          <p:cNvPr id="9" name="TextBox 8"/>
          <p:cNvSpPr txBox="1"/>
          <p:nvPr/>
        </p:nvSpPr>
        <p:spPr>
          <a:xfrm>
            <a:off x="8732520" y="5212080"/>
            <a:ext cx="2606040" cy="274320"/>
          </a:xfrm>
          <a:prstGeom prst="rect">
            <a:avLst/>
          </a:prstGeom>
          <a:noFill/>
          <a:effectLst/>
        </p:spPr>
        <p:txBody>
          <a:bodyPr wrap="square" lIns="0" tIns="0" rIns="0" bIns="0">
            <a:spAutoFit/>
          </a:bodyPr>
          <a:lstStyle/>
          <a:p>
            <a:pPr algn="ctr">
              <a:spcAft>
                <a:spcPts val="0"/>
              </a:spcAft>
              <a:defRPr sz="1200" b="1">
                <a:solidFill>
                  <a:srgbClr val="111827"/>
                </a:solidFill>
                <a:latin typeface="Arial"/>
              </a:defRPr>
            </a:pPr>
            <a:r>
              <a:t>1915 drawing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McDonald’s: More Than Red and Yellow</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[S1], [S3]</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9 of 25</a:t>
            </a:r>
          </a:p>
        </p:txBody>
      </p:sp>
      <p:sp>
        <p:nvSpPr>
          <p:cNvPr id="5" name="TextBox 4"/>
          <p:cNvSpPr txBox="1"/>
          <p:nvPr/>
        </p:nvSpPr>
        <p:spPr>
          <a:xfrm>
            <a:off x="731520" y="1737360"/>
            <a:ext cx="493776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Red fry carton paired with bright yellow french fries</a:t>
            </a:r>
          </a:p>
          <a:p>
            <a:pPr algn="l">
              <a:spcAft>
                <a:spcPts val="1800"/>
              </a:spcAft>
              <a:defRPr sz="2400" b="0">
                <a:solidFill>
                  <a:srgbClr val="111827"/>
                </a:solidFill>
                <a:latin typeface="Arial"/>
              </a:defRPr>
            </a:pPr>
            <a:r>
              <a:t>Simple packaging shape works together with brand colors</a:t>
            </a:r>
          </a:p>
          <a:p>
            <a:pPr algn="l">
              <a:spcAft>
                <a:spcPts val="1800"/>
              </a:spcAft>
              <a:defRPr sz="2400" b="0">
                <a:solidFill>
                  <a:srgbClr val="111827"/>
                </a:solidFill>
                <a:latin typeface="Arial"/>
              </a:defRPr>
            </a:pPr>
            <a:r>
              <a:t>Color combination and packaging create a familiar visual clue</a:t>
            </a:r>
          </a:p>
        </p:txBody>
      </p:sp>
      <p:pic>
        <p:nvPicPr>
          <p:cNvPr id="6" name="Picture 5" descr="mcdonalds-fries-packaging.jpg"/>
          <p:cNvPicPr>
            <a:picLocks noChangeAspect="1"/>
          </p:cNvPicPr>
          <p:nvPr/>
        </p:nvPicPr>
        <p:blipFill>
          <a:blip r:embed="rId2"/>
          <a:stretch>
            <a:fillRect/>
          </a:stretch>
        </p:blipFill>
        <p:spPr>
          <a:xfrm>
            <a:off x="7368499" y="1737360"/>
            <a:ext cx="2545161" cy="3931920"/>
          </a:xfrm>
          <a:prstGeom prst="rect">
            <a:avLst/>
          </a:prstGeom>
        </p:spPr>
      </p:pic>
      <p:sp>
        <p:nvSpPr>
          <p:cNvPr id="7" name="TextBox 6"/>
          <p:cNvSpPr txBox="1"/>
          <p:nvPr/>
        </p:nvSpPr>
        <p:spPr>
          <a:xfrm>
            <a:off x="6035040" y="5742432"/>
            <a:ext cx="5212080" cy="320040"/>
          </a:xfrm>
          <a:prstGeom prst="rect">
            <a:avLst/>
          </a:prstGeom>
          <a:noFill/>
          <a:effectLst/>
        </p:spPr>
        <p:txBody>
          <a:bodyPr wrap="square" lIns="0" tIns="0" rIns="0" bIns="0">
            <a:spAutoFit/>
          </a:bodyPr>
          <a:lstStyle/>
          <a:p>
            <a:pPr algn="ctr">
              <a:spcAft>
                <a:spcPts val="0"/>
              </a:spcAft>
              <a:defRPr sz="1200" b="0">
                <a:solidFill>
                  <a:srgbClr val="4B5563"/>
                </a:solidFill>
                <a:latin typeface="Arial"/>
              </a:defRPr>
            </a:pPr>
            <a:r>
              <a:t>Red paperboard fry carton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McDonald’s: European Green and Cropped Arches</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[S8], [S9]</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10 of 25</a:t>
            </a:r>
          </a:p>
        </p:txBody>
      </p:sp>
      <p:sp>
        <p:nvSpPr>
          <p:cNvPr id="5" name="TextBox 4"/>
          <p:cNvSpPr txBox="1"/>
          <p:nvPr/>
        </p:nvSpPr>
        <p:spPr>
          <a:xfrm>
            <a:off x="731520" y="1737360"/>
            <a:ext cx="493776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Some European restaurants changed red background to deep green (reported 2009)</a:t>
            </a:r>
          </a:p>
          <a:p>
            <a:pPr algn="l">
              <a:spcAft>
                <a:spcPts val="1800"/>
              </a:spcAft>
              <a:defRPr sz="2400" b="0">
                <a:solidFill>
                  <a:srgbClr val="111827"/>
                </a:solidFill>
                <a:latin typeface="Arial"/>
              </a:defRPr>
            </a:pPr>
            <a:r>
              <a:t>Golden arches stayed unchanged while background colors changed</a:t>
            </a:r>
          </a:p>
          <a:p>
            <a:pPr algn="l">
              <a:spcAft>
                <a:spcPts val="1800"/>
              </a:spcAft>
              <a:defRPr sz="2400" b="0">
                <a:solidFill>
                  <a:srgbClr val="111827"/>
                </a:solidFill>
                <a:latin typeface="Arial"/>
              </a:defRPr>
            </a:pPr>
            <a:r>
              <a:t>Cropped arches are logo fragments with text, not color-only</a:t>
            </a:r>
          </a:p>
        </p:txBody>
      </p:sp>
      <p:pic>
        <p:nvPicPr>
          <p:cNvPr id="6" name="Picture 5" descr="mcdonalds-follow-the-arches-billboard.jpg"/>
          <p:cNvPicPr>
            <a:picLocks noChangeAspect="1"/>
          </p:cNvPicPr>
          <p:nvPr/>
        </p:nvPicPr>
        <p:blipFill>
          <a:blip r:embed="rId2"/>
          <a:stretch>
            <a:fillRect/>
          </a:stretch>
        </p:blipFill>
        <p:spPr>
          <a:xfrm>
            <a:off x="6035040" y="1858243"/>
            <a:ext cx="5212080" cy="3690152"/>
          </a:xfrm>
          <a:prstGeom prst="rect">
            <a:avLst/>
          </a:prstGeom>
        </p:spPr>
      </p:pic>
      <p:sp>
        <p:nvSpPr>
          <p:cNvPr id="7" name="TextBox 6"/>
          <p:cNvSpPr txBox="1"/>
          <p:nvPr/>
        </p:nvSpPr>
        <p:spPr>
          <a:xfrm>
            <a:off x="6035040" y="5742432"/>
            <a:ext cx="5212080" cy="320040"/>
          </a:xfrm>
          <a:prstGeom prst="rect">
            <a:avLst/>
          </a:prstGeom>
          <a:noFill/>
          <a:effectLst/>
        </p:spPr>
        <p:txBody>
          <a:bodyPr wrap="square" lIns="0" tIns="0" rIns="0" bIns="0">
            <a:spAutoFit/>
          </a:bodyPr>
          <a:lstStyle/>
          <a:p>
            <a:pPr algn="ctr">
              <a:spcAft>
                <a:spcPts val="0"/>
              </a:spcAft>
              <a:defRPr sz="1200" b="0">
                <a:solidFill>
                  <a:srgbClr val="4B5563"/>
                </a:solidFill>
                <a:latin typeface="Arial"/>
              </a:defRPr>
            </a:pPr>
            <a:r>
              <a:t>Follow the Arches campaign (Cossette, 2018)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Case 3: Tiffany Blue and Luxury Packaging</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[S5]</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11 of 25</a:t>
            </a:r>
          </a:p>
        </p:txBody>
      </p:sp>
      <p:sp>
        <p:nvSpPr>
          <p:cNvPr id="5" name="TextBox 4"/>
          <p:cNvSpPr txBox="1"/>
          <p:nvPr/>
        </p:nvSpPr>
        <p:spPr>
          <a:xfrm>
            <a:off x="731520" y="1737360"/>
            <a:ext cx="493776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Signature turquoise color chosen in the nineteenth century</a:t>
            </a:r>
          </a:p>
          <a:p>
            <a:pPr algn="l">
              <a:spcAft>
                <a:spcPts val="1800"/>
              </a:spcAft>
              <a:defRPr sz="2400" b="0">
                <a:solidFill>
                  <a:srgbClr val="111827"/>
                </a:solidFill>
                <a:latin typeface="Arial"/>
              </a:defRPr>
            </a:pPr>
            <a:r>
              <a:t>Famous gift box is tied with a white satin ribbon</a:t>
            </a:r>
          </a:p>
          <a:p>
            <a:pPr algn="l">
              <a:spcAft>
                <a:spcPts val="1800"/>
              </a:spcAft>
              <a:defRPr sz="2400" b="0">
                <a:solidFill>
                  <a:srgbClr val="111827"/>
                </a:solidFill>
                <a:latin typeface="Arial"/>
              </a:defRPr>
            </a:pPr>
            <a:r>
              <a:t>Customers connect the box color with special jewelry gifts</a:t>
            </a:r>
          </a:p>
        </p:txBody>
      </p:sp>
      <p:pic>
        <p:nvPicPr>
          <p:cNvPr id="6" name="Picture 5" descr="tiffany-blue-box.jpg"/>
          <p:cNvPicPr>
            <a:picLocks noChangeAspect="1"/>
          </p:cNvPicPr>
          <p:nvPr/>
        </p:nvPicPr>
        <p:blipFill>
          <a:blip r:embed="rId2"/>
          <a:stretch>
            <a:fillRect/>
          </a:stretch>
        </p:blipFill>
        <p:spPr>
          <a:xfrm>
            <a:off x="6035040" y="1748790"/>
            <a:ext cx="5212080" cy="3909060"/>
          </a:xfrm>
          <a:prstGeom prst="rect">
            <a:avLst/>
          </a:prstGeom>
        </p:spPr>
      </p:pic>
      <p:sp>
        <p:nvSpPr>
          <p:cNvPr id="7" name="TextBox 6"/>
          <p:cNvSpPr txBox="1"/>
          <p:nvPr/>
        </p:nvSpPr>
        <p:spPr>
          <a:xfrm>
            <a:off x="6035040" y="5742432"/>
            <a:ext cx="5212080" cy="320040"/>
          </a:xfrm>
          <a:prstGeom prst="rect">
            <a:avLst/>
          </a:prstGeom>
          <a:noFill/>
          <a:effectLst/>
        </p:spPr>
        <p:txBody>
          <a:bodyPr wrap="square" lIns="0" tIns="0" rIns="0" bIns="0">
            <a:spAutoFit/>
          </a:bodyPr>
          <a:lstStyle/>
          <a:p>
            <a:pPr algn="ctr">
              <a:spcAft>
                <a:spcPts val="0"/>
              </a:spcAft>
              <a:defRPr sz="1200" b="0">
                <a:solidFill>
                  <a:srgbClr val="4B5563"/>
                </a:solidFill>
                <a:latin typeface="Arial"/>
              </a:defRPr>
            </a:pPr>
            <a:r>
              <a:t>The Tiffany Blue Box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Tiffany: Store Rules and Presentation</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[S5]</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12 of 25</a:t>
            </a:r>
          </a:p>
        </p:txBody>
      </p:sp>
      <p:sp>
        <p:nvSpPr>
          <p:cNvPr id="5" name="TextBox 4"/>
          <p:cNvSpPr txBox="1"/>
          <p:nvPr/>
        </p:nvSpPr>
        <p:spPr>
          <a:xfrm>
            <a:off x="731520" y="1737360"/>
            <a:ext cx="493776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Strict store presentation policies protect the blue gift box</a:t>
            </a:r>
          </a:p>
          <a:p>
            <a:pPr algn="l">
              <a:spcAft>
                <a:spcPts val="1800"/>
              </a:spcAft>
              <a:defRPr sz="2400" b="0">
                <a:solidFill>
                  <a:srgbClr val="111827"/>
                </a:solidFill>
                <a:latin typeface="Arial"/>
              </a:defRPr>
            </a:pPr>
            <a:r>
              <a:t>Company lore cites 1906 report: boxes given only with purchases</a:t>
            </a:r>
          </a:p>
          <a:p>
            <a:pPr algn="l">
              <a:spcAft>
                <a:spcPts val="1800"/>
              </a:spcAft>
              <a:defRPr sz="2400" b="0">
                <a:solidFill>
                  <a:srgbClr val="111827"/>
                </a:solidFill>
                <a:latin typeface="Arial"/>
              </a:defRPr>
            </a:pPr>
            <a:r>
              <a:t>Keep the blue consistent across boxes and shopping bags</a:t>
            </a:r>
          </a:p>
        </p:txBody>
      </p:sp>
      <p:pic>
        <p:nvPicPr>
          <p:cNvPr id="6" name="Picture 5" descr="tiffany_box_detail_crop.jpg"/>
          <p:cNvPicPr>
            <a:picLocks noChangeAspect="1"/>
          </p:cNvPicPr>
          <p:nvPr/>
        </p:nvPicPr>
        <p:blipFill>
          <a:blip r:embed="rId2"/>
          <a:stretch>
            <a:fillRect/>
          </a:stretch>
        </p:blipFill>
        <p:spPr>
          <a:xfrm>
            <a:off x="6035040" y="2335780"/>
            <a:ext cx="5212080" cy="273507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Tiffany: Standard Color and Trademark Scope</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[S5]</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13 of 25</a:t>
            </a:r>
          </a:p>
        </p:txBody>
      </p:sp>
      <p:sp>
        <p:nvSpPr>
          <p:cNvPr id="5" name="TextBox 4"/>
          <p:cNvSpPr txBox="1"/>
          <p:nvPr/>
        </p:nvSpPr>
        <p:spPr>
          <a:xfrm>
            <a:off x="731520" y="1737360"/>
            <a:ext cx="475488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Registered Tiffany Blue as a color trademark in 1998</a:t>
            </a:r>
          </a:p>
          <a:p>
            <a:pPr algn="l">
              <a:spcAft>
                <a:spcPts val="1800"/>
              </a:spcAft>
              <a:defRPr sz="2400" b="0">
                <a:solidFill>
                  <a:srgbClr val="111827"/>
                </a:solidFill>
                <a:latin typeface="Arial"/>
              </a:defRPr>
            </a:pPr>
            <a:r>
              <a:t>Standardized custom color with Pantone as 1837 Blue</a:t>
            </a:r>
          </a:p>
          <a:p>
            <a:pPr algn="l">
              <a:spcAft>
                <a:spcPts val="1800"/>
              </a:spcAft>
              <a:defRPr sz="2400" b="0">
                <a:solidFill>
                  <a:srgbClr val="111827"/>
                </a:solidFill>
                <a:latin typeface="Arial"/>
              </a:defRPr>
            </a:pPr>
            <a:r>
              <a:t>Protection covers luxury jewelry boxes, not all turquoise products</a:t>
            </a:r>
          </a:p>
        </p:txBody>
      </p:sp>
      <p:sp>
        <p:nvSpPr>
          <p:cNvPr id="6" name="Rectangle 5"/>
          <p:cNvSpPr/>
          <p:nvPr/>
        </p:nvSpPr>
        <p:spPr>
          <a:xfrm>
            <a:off x="5852160" y="1737360"/>
            <a:ext cx="5577840" cy="3657600"/>
          </a:xfrm>
          <a:prstGeom prst="rect">
            <a:avLst/>
          </a:prstGeom>
          <a:solidFill>
            <a:srgbClr val="81D8D0"/>
          </a:solidFill>
          <a:ln w="12700">
            <a:solidFill>
              <a:srgbClr val="6EC3B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035040" y="1847088"/>
            <a:ext cx="5212080" cy="502920"/>
          </a:xfrm>
          <a:prstGeom prst="rect">
            <a:avLst/>
          </a:prstGeom>
          <a:noFill/>
          <a:effectLst/>
        </p:spPr>
        <p:txBody>
          <a:bodyPr wrap="square" lIns="0" tIns="0" rIns="0" bIns="0">
            <a:spAutoFit/>
          </a:bodyPr>
          <a:lstStyle/>
          <a:p>
            <a:pPr algn="l">
              <a:spcAft>
                <a:spcPts val="0"/>
              </a:spcAft>
              <a:defRPr sz="1300" b="1">
                <a:solidFill>
                  <a:srgbClr val="111827"/>
                </a:solidFill>
                <a:latin typeface="Arial"/>
              </a:defRPr>
            </a:pPr>
            <a:r>
              <a:t>Approximate screen color — not the official Pantone standard. No exact color guarantee.</a:t>
            </a:r>
          </a:p>
        </p:txBody>
      </p:sp>
      <p:pic>
        <p:nvPicPr>
          <p:cNvPr id="8" name="Picture 7" descr="tiffany-blue-box.jpg"/>
          <p:cNvPicPr>
            <a:picLocks noChangeAspect="1"/>
          </p:cNvPicPr>
          <p:nvPr/>
        </p:nvPicPr>
        <p:blipFill>
          <a:blip r:embed="rId2"/>
          <a:stretch>
            <a:fillRect/>
          </a:stretch>
        </p:blipFill>
        <p:spPr>
          <a:xfrm>
            <a:off x="7147560" y="2423160"/>
            <a:ext cx="2987040" cy="22402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Case 4: IKEA and Store Color Standardization</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[S6]</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14 of 25</a:t>
            </a:r>
          </a:p>
        </p:txBody>
      </p:sp>
      <p:sp>
        <p:nvSpPr>
          <p:cNvPr id="5" name="TextBox 4"/>
          <p:cNvSpPr txBox="1"/>
          <p:nvPr/>
        </p:nvSpPr>
        <p:spPr>
          <a:xfrm>
            <a:off x="731520" y="1737360"/>
            <a:ext cx="493776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First brand manual in 1984 set clear identity rules</a:t>
            </a:r>
          </a:p>
          <a:p>
            <a:pPr algn="l">
              <a:spcAft>
                <a:spcPts val="1800"/>
              </a:spcAft>
              <a:defRPr sz="2400" b="0">
                <a:solidFill>
                  <a:srgbClr val="111827"/>
                </a:solidFill>
                <a:latin typeface="Arial"/>
              </a:defRPr>
            </a:pPr>
            <a:r>
              <a:t>Red-and-white logos stayed in Scandinavia for many years</a:t>
            </a:r>
          </a:p>
          <a:p>
            <a:pPr algn="l">
              <a:spcAft>
                <a:spcPts val="1800"/>
              </a:spcAft>
              <a:defRPr sz="2400" b="0">
                <a:solidFill>
                  <a:srgbClr val="111827"/>
                </a:solidFill>
                <a:latin typeface="Arial"/>
              </a:defRPr>
            </a:pPr>
            <a:r>
              <a:t>Blue warehouse buildings with yellow signs spread from 1991</a:t>
            </a:r>
          </a:p>
        </p:txBody>
      </p:sp>
      <p:pic>
        <p:nvPicPr>
          <p:cNvPr id="6" name="Picture 5" descr="ikea-store-exterior.jpg"/>
          <p:cNvPicPr>
            <a:picLocks noChangeAspect="1"/>
          </p:cNvPicPr>
          <p:nvPr/>
        </p:nvPicPr>
        <p:blipFill>
          <a:blip r:embed="rId2"/>
          <a:stretch>
            <a:fillRect/>
          </a:stretch>
        </p:blipFill>
        <p:spPr>
          <a:xfrm>
            <a:off x="6035040" y="1979821"/>
            <a:ext cx="5212080" cy="3446996"/>
          </a:xfrm>
          <a:prstGeom prst="rect">
            <a:avLst/>
          </a:prstGeom>
        </p:spPr>
      </p:pic>
      <p:sp>
        <p:nvSpPr>
          <p:cNvPr id="7" name="TextBox 6"/>
          <p:cNvSpPr txBox="1"/>
          <p:nvPr/>
        </p:nvSpPr>
        <p:spPr>
          <a:xfrm>
            <a:off x="6035040" y="5742432"/>
            <a:ext cx="5212080" cy="320040"/>
          </a:xfrm>
          <a:prstGeom prst="rect">
            <a:avLst/>
          </a:prstGeom>
          <a:noFill/>
          <a:effectLst/>
        </p:spPr>
        <p:txBody>
          <a:bodyPr wrap="square" lIns="0" tIns="0" rIns="0" bIns="0">
            <a:spAutoFit/>
          </a:bodyPr>
          <a:lstStyle/>
          <a:p>
            <a:pPr algn="ctr">
              <a:spcAft>
                <a:spcPts val="0"/>
              </a:spcAft>
              <a:defRPr sz="1200" b="0">
                <a:solidFill>
                  <a:srgbClr val="4B5563"/>
                </a:solidFill>
                <a:latin typeface="Arial"/>
              </a:defRPr>
            </a:pPr>
            <a:r>
              <a:t>Standardized warehouse architecture (from 1991)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IKEA: The Blue FRAKTA Shopping Bag</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[S7]</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15 of 25</a:t>
            </a:r>
          </a:p>
        </p:txBody>
      </p:sp>
      <p:sp>
        <p:nvSpPr>
          <p:cNvPr id="5" name="TextBox 4"/>
          <p:cNvSpPr txBox="1"/>
          <p:nvPr/>
        </p:nvSpPr>
        <p:spPr>
          <a:xfrm>
            <a:off x="731520" y="1737360"/>
            <a:ext cx="493776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Durable blue shopping bag created for carrying home products</a:t>
            </a:r>
          </a:p>
          <a:p>
            <a:pPr algn="l">
              <a:spcAft>
                <a:spcPts val="1800"/>
              </a:spcAft>
              <a:defRPr sz="2400" b="0">
                <a:solidFill>
                  <a:srgbClr val="111827"/>
                </a:solidFill>
                <a:latin typeface="Arial"/>
              </a:defRPr>
            </a:pPr>
            <a:r>
              <a:t>Blue woven handles feature bright yellow brand lettering</a:t>
            </a:r>
          </a:p>
          <a:p>
            <a:pPr algn="l">
              <a:spcAft>
                <a:spcPts val="1800"/>
              </a:spcAft>
              <a:defRPr sz="2400" b="0">
                <a:solidFill>
                  <a:srgbClr val="111827"/>
                </a:solidFill>
                <a:latin typeface="Arial"/>
              </a:defRPr>
            </a:pPr>
            <a:r>
              <a:t>Everyday practical use turned the bag into a familiar clue</a:t>
            </a:r>
          </a:p>
        </p:txBody>
      </p:sp>
      <p:pic>
        <p:nvPicPr>
          <p:cNvPr id="6" name="Picture 5" descr="ikea-frakta-bag.jpg"/>
          <p:cNvPicPr>
            <a:picLocks noChangeAspect="1"/>
          </p:cNvPicPr>
          <p:nvPr/>
        </p:nvPicPr>
        <p:blipFill>
          <a:blip r:embed="rId2"/>
          <a:stretch>
            <a:fillRect/>
          </a:stretch>
        </p:blipFill>
        <p:spPr>
          <a:xfrm>
            <a:off x="6035040" y="1748790"/>
            <a:ext cx="5212080" cy="3909060"/>
          </a:xfrm>
          <a:prstGeom prst="rect">
            <a:avLst/>
          </a:prstGeom>
        </p:spPr>
      </p:pic>
      <p:sp>
        <p:nvSpPr>
          <p:cNvPr id="7" name="TextBox 6"/>
          <p:cNvSpPr txBox="1"/>
          <p:nvPr/>
        </p:nvSpPr>
        <p:spPr>
          <a:xfrm>
            <a:off x="6035040" y="5742432"/>
            <a:ext cx="5212080" cy="320040"/>
          </a:xfrm>
          <a:prstGeom prst="rect">
            <a:avLst/>
          </a:prstGeom>
          <a:noFill/>
          <a:effectLst/>
        </p:spPr>
        <p:txBody>
          <a:bodyPr wrap="square" lIns="0" tIns="0" rIns="0" bIns="0">
            <a:spAutoFit/>
          </a:bodyPr>
          <a:lstStyle/>
          <a:p>
            <a:pPr algn="ctr">
              <a:spcAft>
                <a:spcPts val="0"/>
              </a:spcAft>
              <a:defRPr sz="1200" b="0">
                <a:solidFill>
                  <a:srgbClr val="4B5563"/>
                </a:solidFill>
                <a:latin typeface="Arial"/>
              </a:defRPr>
            </a:pPr>
            <a:r>
              <a:t>FRAKTA shopping bag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Limits of Single Colors: Shared Brand Clues</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[S1], [S3]</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16 of 25</a:t>
            </a:r>
          </a:p>
        </p:txBody>
      </p:sp>
      <p:sp>
        <p:nvSpPr>
          <p:cNvPr id="5" name="TextBox 4"/>
          <p:cNvSpPr txBox="1"/>
          <p:nvPr/>
        </p:nvSpPr>
        <p:spPr>
          <a:xfrm>
            <a:off x="731520" y="1737360"/>
            <a:ext cx="475488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Single colors are shared by many competing commercial brands</a:t>
            </a:r>
          </a:p>
          <a:p>
            <a:pPr algn="l">
              <a:spcAft>
                <a:spcPts val="1800"/>
              </a:spcAft>
              <a:defRPr sz="2400" b="0">
                <a:solidFill>
                  <a:srgbClr val="111827"/>
                </a:solidFill>
                <a:latin typeface="Arial"/>
              </a:defRPr>
            </a:pPr>
            <a:r>
              <a:t>Red is shared by Coca-Cola, Target, and McDonald's</a:t>
            </a:r>
          </a:p>
          <a:p>
            <a:pPr algn="l">
              <a:spcAft>
                <a:spcPts val="1800"/>
              </a:spcAft>
              <a:defRPr sz="2400" b="0">
                <a:solidFill>
                  <a:srgbClr val="111827"/>
                </a:solidFill>
                <a:latin typeface="Arial"/>
              </a:defRPr>
            </a:pPr>
            <a:r>
              <a:t>Yellow is shared by IKEA, Shell, and DHL</a:t>
            </a:r>
          </a:p>
        </p:txBody>
      </p:sp>
      <p:sp>
        <p:nvSpPr>
          <p:cNvPr id="6" name="Rectangle 5"/>
          <p:cNvSpPr/>
          <p:nvPr/>
        </p:nvSpPr>
        <p:spPr>
          <a:xfrm>
            <a:off x="5852160" y="1783080"/>
            <a:ext cx="5577840" cy="1691640"/>
          </a:xfrm>
          <a:prstGeom prst="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035040" y="1947672"/>
            <a:ext cx="1371600" cy="1362456"/>
          </a:xfrm>
          <a:prstGeom prst="rect">
            <a:avLst/>
          </a:prstGeom>
          <a:solidFill>
            <a:srgbClr val="DA291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589520" y="2103120"/>
            <a:ext cx="3657600" cy="1097280"/>
          </a:xfrm>
          <a:prstGeom prst="rect">
            <a:avLst/>
          </a:prstGeom>
          <a:noFill/>
          <a:effectLst/>
        </p:spPr>
        <p:txBody>
          <a:bodyPr wrap="square" lIns="0" tIns="0" rIns="0" bIns="0">
            <a:spAutoFit/>
          </a:bodyPr>
          <a:lstStyle/>
          <a:p>
            <a:pPr algn="l">
              <a:spcAft>
                <a:spcPts val="800"/>
              </a:spcAft>
              <a:defRPr sz="1800" b="1">
                <a:solidFill>
                  <a:srgbClr val="111827"/>
                </a:solidFill>
                <a:latin typeface="Arial"/>
              </a:defRPr>
            </a:pPr>
            <a:r>
              <a:t>Shared Red</a:t>
            </a:r>
          </a:p>
          <a:p>
            <a:pPr algn="l">
              <a:spcAft>
                <a:spcPts val="0"/>
              </a:spcAft>
              <a:defRPr sz="1500" b="0">
                <a:solidFill>
                  <a:srgbClr val="111827"/>
                </a:solidFill>
                <a:latin typeface="Arial"/>
              </a:defRPr>
            </a:pPr>
            <a:r>
              <a:t>Red is shared by Coca-Cola, Target, and McDonald's</a:t>
            </a:r>
          </a:p>
        </p:txBody>
      </p:sp>
      <p:sp>
        <p:nvSpPr>
          <p:cNvPr id="9" name="Rectangle 8"/>
          <p:cNvSpPr/>
          <p:nvPr/>
        </p:nvSpPr>
        <p:spPr>
          <a:xfrm>
            <a:off x="5852160" y="3657600"/>
            <a:ext cx="5577840" cy="1691640"/>
          </a:xfrm>
          <a:prstGeom prst="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035040" y="3822191"/>
            <a:ext cx="1371600" cy="1362456"/>
          </a:xfrm>
          <a:prstGeom prst="rect">
            <a:avLst/>
          </a:prstGeom>
          <a:solidFill>
            <a:srgbClr val="FFC7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589520" y="3977639"/>
            <a:ext cx="3657600" cy="1097280"/>
          </a:xfrm>
          <a:prstGeom prst="rect">
            <a:avLst/>
          </a:prstGeom>
          <a:noFill/>
          <a:effectLst/>
        </p:spPr>
        <p:txBody>
          <a:bodyPr wrap="square" lIns="0" tIns="0" rIns="0" bIns="0">
            <a:spAutoFit/>
          </a:bodyPr>
          <a:lstStyle/>
          <a:p>
            <a:pPr algn="l">
              <a:spcAft>
                <a:spcPts val="800"/>
              </a:spcAft>
              <a:defRPr sz="1800" b="1">
                <a:solidFill>
                  <a:srgbClr val="111827"/>
                </a:solidFill>
                <a:latin typeface="Arial"/>
              </a:defRPr>
            </a:pPr>
            <a:r>
              <a:t>Shared Yellow</a:t>
            </a:r>
          </a:p>
          <a:p>
            <a:pPr algn="l">
              <a:spcAft>
                <a:spcPts val="0"/>
              </a:spcAft>
              <a:defRPr sz="1500" b="0">
                <a:solidFill>
                  <a:srgbClr val="111827"/>
                </a:solidFill>
                <a:latin typeface="Arial"/>
              </a:defRPr>
            </a:pPr>
            <a:r>
              <a:t>Yellow is shared by IKEA, Shell, and DHL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Combining Visual Clues: Color, Shape, and Context</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[S1], [S2], [S3]</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17 of 25</a:t>
            </a:r>
          </a:p>
        </p:txBody>
      </p:sp>
      <p:sp>
        <p:nvSpPr>
          <p:cNvPr id="5" name="TextBox 4"/>
          <p:cNvSpPr txBox="1"/>
          <p:nvPr/>
        </p:nvSpPr>
        <p:spPr>
          <a:xfrm>
            <a:off x="731520" y="1737360"/>
            <a:ext cx="475488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Visual clues work best when supporting each other together</a:t>
            </a:r>
          </a:p>
          <a:p>
            <a:pPr algn="l">
              <a:spcAft>
                <a:spcPts val="1800"/>
              </a:spcAft>
              <a:defRPr sz="2400" b="0">
                <a:solidFill>
                  <a:srgbClr val="111827"/>
                </a:solidFill>
                <a:latin typeface="Arial"/>
              </a:defRPr>
            </a:pPr>
            <a:r>
              <a:t>Pairing color with shape reduces confusion for shoppers</a:t>
            </a:r>
          </a:p>
          <a:p>
            <a:pPr algn="l">
              <a:spcAft>
                <a:spcPts val="1800"/>
              </a:spcAft>
              <a:defRPr sz="2400" b="0">
                <a:solidFill>
                  <a:srgbClr val="111827"/>
                </a:solidFill>
                <a:latin typeface="Arial"/>
              </a:defRPr>
            </a:pPr>
            <a:r>
              <a:t>Recognition depends on shopper familiarity and daily habits</a:t>
            </a:r>
          </a:p>
        </p:txBody>
      </p:sp>
      <p:sp>
        <p:nvSpPr>
          <p:cNvPr id="6" name="Rectangle 5"/>
          <p:cNvSpPr/>
          <p:nvPr/>
        </p:nvSpPr>
        <p:spPr>
          <a:xfrm>
            <a:off x="5852160" y="1783080"/>
            <a:ext cx="5577840" cy="868680"/>
          </a:xfrm>
          <a:prstGeom prst="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035040" y="2011680"/>
            <a:ext cx="5212080" cy="457200"/>
          </a:xfrm>
          <a:prstGeom prst="rect">
            <a:avLst/>
          </a:prstGeom>
          <a:noFill/>
          <a:effectLst/>
        </p:spPr>
        <p:txBody>
          <a:bodyPr wrap="square" lIns="0" tIns="0" rIns="0" bIns="0">
            <a:spAutoFit/>
          </a:bodyPr>
          <a:lstStyle/>
          <a:p>
            <a:pPr algn="l">
              <a:spcAft>
                <a:spcPts val="0"/>
              </a:spcAft>
              <a:defRPr sz="2200" b="1">
                <a:solidFill>
                  <a:srgbClr val="111827"/>
                </a:solidFill>
                <a:latin typeface="Arial"/>
              </a:defRPr>
            </a:pPr>
            <a:r>
              <a:t>Color and Shape</a:t>
            </a:r>
          </a:p>
        </p:txBody>
      </p:sp>
      <p:sp>
        <p:nvSpPr>
          <p:cNvPr id="8" name="Rectangle 7"/>
          <p:cNvSpPr/>
          <p:nvPr/>
        </p:nvSpPr>
        <p:spPr>
          <a:xfrm>
            <a:off x="5852160" y="3017520"/>
            <a:ext cx="5577840" cy="868680"/>
          </a:xfrm>
          <a:prstGeom prst="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035040" y="3246120"/>
            <a:ext cx="5212080" cy="457200"/>
          </a:xfrm>
          <a:prstGeom prst="rect">
            <a:avLst/>
          </a:prstGeom>
          <a:noFill/>
          <a:effectLst/>
        </p:spPr>
        <p:txBody>
          <a:bodyPr wrap="square" lIns="0" tIns="0" rIns="0" bIns="0">
            <a:spAutoFit/>
          </a:bodyPr>
          <a:lstStyle/>
          <a:p>
            <a:pPr algn="l">
              <a:spcAft>
                <a:spcPts val="0"/>
              </a:spcAft>
              <a:defRPr sz="2200" b="1">
                <a:solidFill>
                  <a:srgbClr val="111827"/>
                </a:solidFill>
                <a:latin typeface="Arial"/>
              </a:defRPr>
            </a:pPr>
            <a:r>
              <a:t>Familiarity and Habits</a:t>
            </a:r>
          </a:p>
        </p:txBody>
      </p:sp>
      <p:sp>
        <p:nvSpPr>
          <p:cNvPr id="10" name="TextBox 9"/>
          <p:cNvSpPr txBox="1"/>
          <p:nvPr/>
        </p:nvSpPr>
        <p:spPr>
          <a:xfrm>
            <a:off x="5852160" y="2670048"/>
            <a:ext cx="5577840" cy="320040"/>
          </a:xfrm>
          <a:prstGeom prst="rect">
            <a:avLst/>
          </a:prstGeom>
          <a:noFill/>
          <a:effectLst/>
        </p:spPr>
        <p:txBody>
          <a:bodyPr wrap="square" lIns="0" tIns="0" rIns="0" bIns="0">
            <a:spAutoFit/>
          </a:bodyPr>
          <a:lstStyle/>
          <a:p>
            <a:pPr algn="ctr">
              <a:spcAft>
                <a:spcPts val="0"/>
              </a:spcAft>
              <a:defRPr sz="2200" b="1">
                <a:solidFill>
                  <a:srgbClr val="9CA3AF"/>
                </a:solidFill>
                <a:latin typeface="Arial"/>
              </a:defRPr>
            </a:pPr>
            <a:r>
              <a:t>+</a:t>
            </a:r>
          </a:p>
        </p:txBody>
      </p:sp>
      <p:sp>
        <p:nvSpPr>
          <p:cNvPr id="11" name="Rectangle 10"/>
          <p:cNvSpPr/>
          <p:nvPr/>
        </p:nvSpPr>
        <p:spPr>
          <a:xfrm>
            <a:off x="5852160" y="4251960"/>
            <a:ext cx="5577840" cy="868680"/>
          </a:xfrm>
          <a:prstGeom prst="rect">
            <a:avLst/>
          </a:prstGeom>
          <a:solidFill>
            <a:srgbClr val="EFF6FF"/>
          </a:solidFill>
          <a:ln w="12700">
            <a:solidFill>
              <a:srgbClr val="93C5F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035040" y="4480560"/>
            <a:ext cx="5212080" cy="457200"/>
          </a:xfrm>
          <a:prstGeom prst="rect">
            <a:avLst/>
          </a:prstGeom>
          <a:noFill/>
          <a:effectLst/>
        </p:spPr>
        <p:txBody>
          <a:bodyPr wrap="square" lIns="0" tIns="0" rIns="0" bIns="0">
            <a:spAutoFit/>
          </a:bodyPr>
          <a:lstStyle/>
          <a:p>
            <a:pPr algn="l">
              <a:spcAft>
                <a:spcPts val="0"/>
              </a:spcAft>
              <a:defRPr sz="2200" b="1">
                <a:solidFill>
                  <a:srgbClr val="1E40AF"/>
                </a:solidFill>
                <a:latin typeface="Arial"/>
              </a:defRPr>
            </a:pPr>
            <a:r>
              <a:t>= Easier Brand Recognition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Redesign Risks: Protecting Familiar Visual Clues</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[S2]</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18 of 25</a:t>
            </a:r>
          </a:p>
        </p:txBody>
      </p:sp>
      <p:sp>
        <p:nvSpPr>
          <p:cNvPr id="5" name="TextBox 4"/>
          <p:cNvSpPr txBox="1"/>
          <p:nvPr/>
        </p:nvSpPr>
        <p:spPr>
          <a:xfrm>
            <a:off x="731520" y="1737360"/>
            <a:ext cx="4754880" cy="4297680"/>
          </a:xfrm>
          <a:prstGeom prst="rect">
            <a:avLst/>
          </a:prstGeom>
          <a:noFill/>
          <a:effectLst/>
        </p:spPr>
        <p:txBody>
          <a:bodyPr wrap="square" lIns="0" tIns="0" rIns="0" bIns="0">
            <a:spAutoFit/>
          </a:bodyPr>
          <a:lstStyle/>
          <a:p>
            <a:pPr>
              <a:spcAft>
                <a:spcPts val="1800"/>
              </a:spcAft>
              <a:defRPr sz="2400">
                <a:solidFill>
                  <a:srgbClr val="111827"/>
                </a:solidFill>
                <a:latin typeface="Arial"/>
              </a:defRPr>
            </a:pPr>
            <a:r>
              <a:t>Brand assets are long-term investments built over many years</a:t>
            </a:r>
          </a:p>
          <a:p>
            <a:pPr algn="l">
              <a:spcAft>
                <a:spcPts val="1800"/>
              </a:spcAft>
              <a:defRPr sz="2400" b="0">
                <a:solidFill>
                  <a:srgbClr val="111827"/>
                </a:solidFill>
                <a:latin typeface="Arial"/>
              </a:defRPr>
            </a:pPr>
            <a:r>
              <a:t>Shoppers rely on fast visual habits when browsing shelves</a:t>
            </a:r>
          </a:p>
          <a:p>
            <a:pPr algn="l">
              <a:spcAft>
                <a:spcPts val="1800"/>
              </a:spcAft>
              <a:defRPr sz="2400" b="0">
                <a:solidFill>
                  <a:srgbClr val="111827"/>
                </a:solidFill>
                <a:latin typeface="Arial"/>
              </a:defRPr>
            </a:pPr>
            <a:r>
              <a:t>Rapid redesigns risk breaking familiar memory connections</a:t>
            </a:r>
          </a:p>
        </p:txBody>
      </p:sp>
      <p:sp>
        <p:nvSpPr>
          <p:cNvPr id="6" name="Rectangle 5"/>
          <p:cNvSpPr/>
          <p:nvPr/>
        </p:nvSpPr>
        <p:spPr>
          <a:xfrm>
            <a:off x="5852160" y="1920240"/>
            <a:ext cx="5577840" cy="1371600"/>
          </a:xfrm>
          <a:prstGeom prst="rect">
            <a:avLst/>
          </a:prstGeom>
          <a:solidFill>
            <a:srgbClr val="F0FDF4"/>
          </a:solidFill>
          <a:ln w="12700">
            <a:solidFill>
              <a:srgbClr val="86EFA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035040" y="2377440"/>
            <a:ext cx="5212080" cy="457200"/>
          </a:xfrm>
          <a:prstGeom prst="rect">
            <a:avLst/>
          </a:prstGeom>
          <a:noFill/>
          <a:effectLst/>
        </p:spPr>
        <p:txBody>
          <a:bodyPr wrap="square" lIns="0" tIns="0" rIns="0" bIns="0">
            <a:spAutoFit/>
          </a:bodyPr>
          <a:lstStyle/>
          <a:p>
            <a:pPr algn="ctr">
              <a:spcAft>
                <a:spcPts val="0"/>
              </a:spcAft>
              <a:defRPr sz="2400" b="1">
                <a:solidFill>
                  <a:srgbClr val="15803D"/>
                </a:solidFill>
                <a:latin typeface="Arial"/>
              </a:defRPr>
            </a:pPr>
            <a:r>
              <a:t>Long-Term Brand Assets</a:t>
            </a:r>
          </a:p>
        </p:txBody>
      </p:sp>
      <p:sp>
        <p:nvSpPr>
          <p:cNvPr id="8" name="Rectangle 7"/>
          <p:cNvSpPr/>
          <p:nvPr/>
        </p:nvSpPr>
        <p:spPr>
          <a:xfrm>
            <a:off x="5852160" y="3566160"/>
            <a:ext cx="5577840" cy="1371600"/>
          </a:xfrm>
          <a:prstGeom prst="rect">
            <a:avLst/>
          </a:prstGeom>
          <a:solidFill>
            <a:srgbClr val="FEF2F2"/>
          </a:solidFill>
          <a:ln w="12700">
            <a:solidFill>
              <a:srgbClr val="FECAC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035040" y="4023360"/>
            <a:ext cx="5212080" cy="457200"/>
          </a:xfrm>
          <a:prstGeom prst="rect">
            <a:avLst/>
          </a:prstGeom>
          <a:noFill/>
          <a:effectLst/>
        </p:spPr>
        <p:txBody>
          <a:bodyPr wrap="square" lIns="0" tIns="0" rIns="0" bIns="0">
            <a:spAutoFit/>
          </a:bodyPr>
          <a:lstStyle/>
          <a:p>
            <a:pPr algn="ctr">
              <a:spcAft>
                <a:spcPts val="0"/>
              </a:spcAft>
              <a:defRPr sz="2400" b="1">
                <a:solidFill>
                  <a:srgbClr val="B91C1C"/>
                </a:solidFill>
                <a:latin typeface="Arial"/>
              </a:defRPr>
            </a:pPr>
            <a:r>
              <a:t>Rapid Redesign Risks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Practical Guidelines for Distinctive Design</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[S1], [S2], [S3]</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19 of 25</a:t>
            </a:r>
          </a:p>
        </p:txBody>
      </p:sp>
      <p:sp>
        <p:nvSpPr>
          <p:cNvPr id="5" name="Rectangle 4"/>
          <p:cNvSpPr/>
          <p:nvPr/>
        </p:nvSpPr>
        <p:spPr>
          <a:xfrm>
            <a:off x="914400" y="1920240"/>
            <a:ext cx="10362895" cy="1097280"/>
          </a:xfrm>
          <a:prstGeom prst="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1188720" y="2148840"/>
            <a:ext cx="731520" cy="640080"/>
          </a:xfrm>
          <a:prstGeom prst="rect">
            <a:avLst/>
          </a:prstGeom>
          <a:noFill/>
          <a:effectLst/>
        </p:spPr>
        <p:txBody>
          <a:bodyPr wrap="square" lIns="0" tIns="0" rIns="0" bIns="0">
            <a:spAutoFit/>
          </a:bodyPr>
          <a:lstStyle/>
          <a:p>
            <a:pPr algn="l">
              <a:spcAft>
                <a:spcPts val="0"/>
              </a:spcAft>
              <a:defRPr sz="3400" b="1">
                <a:solidFill>
                  <a:srgbClr val="2563EB"/>
                </a:solidFill>
                <a:latin typeface="Arial"/>
              </a:defRPr>
            </a:pPr>
            <a:r>
              <a:t>01</a:t>
            </a:r>
          </a:p>
        </p:txBody>
      </p:sp>
      <p:sp>
        <p:nvSpPr>
          <p:cNvPr id="7" name="TextBox 6"/>
          <p:cNvSpPr txBox="1"/>
          <p:nvPr/>
        </p:nvSpPr>
        <p:spPr>
          <a:xfrm>
            <a:off x="2103120" y="2240280"/>
            <a:ext cx="8961120" cy="548640"/>
          </a:xfrm>
          <a:prstGeom prst="rect">
            <a:avLst/>
          </a:prstGeom>
          <a:noFill/>
          <a:effectLst/>
        </p:spPr>
        <p:txBody>
          <a:bodyPr wrap="square" lIns="0" tIns="0" rIns="0" bIns="0">
            <a:spAutoFit/>
          </a:bodyPr>
          <a:lstStyle/>
          <a:p>
            <a:pPr algn="l">
              <a:spcAft>
                <a:spcPts val="0"/>
              </a:spcAft>
              <a:defRPr sz="2200" b="1">
                <a:solidFill>
                  <a:srgbClr val="111827"/>
                </a:solidFill>
                <a:latin typeface="Arial"/>
              </a:defRPr>
            </a:pPr>
            <a:r>
              <a:t>Rule 1: Build clear shapes recognizable without color</a:t>
            </a:r>
          </a:p>
        </p:txBody>
      </p:sp>
      <p:sp>
        <p:nvSpPr>
          <p:cNvPr id="8" name="Rectangle 7"/>
          <p:cNvSpPr/>
          <p:nvPr/>
        </p:nvSpPr>
        <p:spPr>
          <a:xfrm>
            <a:off x="914400" y="3246120"/>
            <a:ext cx="10362895" cy="1097280"/>
          </a:xfrm>
          <a:prstGeom prst="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3474720"/>
            <a:ext cx="731520" cy="640080"/>
          </a:xfrm>
          <a:prstGeom prst="rect">
            <a:avLst/>
          </a:prstGeom>
          <a:noFill/>
          <a:effectLst/>
        </p:spPr>
        <p:txBody>
          <a:bodyPr wrap="square" lIns="0" tIns="0" rIns="0" bIns="0">
            <a:spAutoFit/>
          </a:bodyPr>
          <a:lstStyle/>
          <a:p>
            <a:pPr algn="l">
              <a:spcAft>
                <a:spcPts val="0"/>
              </a:spcAft>
              <a:defRPr sz="3400" b="1">
                <a:solidFill>
                  <a:srgbClr val="2563EB"/>
                </a:solidFill>
                <a:latin typeface="Arial"/>
              </a:defRPr>
            </a:pPr>
            <a:r>
              <a:t>02</a:t>
            </a:r>
          </a:p>
        </p:txBody>
      </p:sp>
      <p:sp>
        <p:nvSpPr>
          <p:cNvPr id="10" name="TextBox 9"/>
          <p:cNvSpPr txBox="1"/>
          <p:nvPr/>
        </p:nvSpPr>
        <p:spPr>
          <a:xfrm>
            <a:off x="2103120" y="3566160"/>
            <a:ext cx="8961120" cy="548640"/>
          </a:xfrm>
          <a:prstGeom prst="rect">
            <a:avLst/>
          </a:prstGeom>
          <a:noFill/>
          <a:effectLst/>
        </p:spPr>
        <p:txBody>
          <a:bodyPr wrap="square" lIns="0" tIns="0" rIns="0" bIns="0">
            <a:spAutoFit/>
          </a:bodyPr>
          <a:lstStyle/>
          <a:p>
            <a:pPr algn="l">
              <a:spcAft>
                <a:spcPts val="0"/>
              </a:spcAft>
              <a:defRPr sz="2200" b="1">
                <a:solidFill>
                  <a:srgbClr val="111827"/>
                </a:solidFill>
                <a:latin typeface="Arial"/>
              </a:defRPr>
            </a:pPr>
            <a:r>
              <a:t>Rule 2: Pair colors with distinctive packaging silhouettes</a:t>
            </a:r>
          </a:p>
        </p:txBody>
      </p:sp>
      <p:sp>
        <p:nvSpPr>
          <p:cNvPr id="11" name="Rectangle 10"/>
          <p:cNvSpPr/>
          <p:nvPr/>
        </p:nvSpPr>
        <p:spPr>
          <a:xfrm>
            <a:off x="914400" y="4572000"/>
            <a:ext cx="10362895" cy="1097280"/>
          </a:xfrm>
          <a:prstGeom prst="rect">
            <a:avLst/>
          </a:prstGeom>
          <a:solidFill>
            <a:srgbClr val="F9FAFB"/>
          </a:solidFill>
          <a:ln w="12700">
            <a:solidFill>
              <a:srgbClr val="E5E7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4800600"/>
            <a:ext cx="731520" cy="640080"/>
          </a:xfrm>
          <a:prstGeom prst="rect">
            <a:avLst/>
          </a:prstGeom>
          <a:noFill/>
          <a:effectLst/>
        </p:spPr>
        <p:txBody>
          <a:bodyPr wrap="square" lIns="0" tIns="0" rIns="0" bIns="0">
            <a:spAutoFit/>
          </a:bodyPr>
          <a:lstStyle/>
          <a:p>
            <a:pPr algn="l">
              <a:spcAft>
                <a:spcPts val="0"/>
              </a:spcAft>
              <a:defRPr sz="3400" b="1">
                <a:solidFill>
                  <a:srgbClr val="2563EB"/>
                </a:solidFill>
                <a:latin typeface="Arial"/>
              </a:defRPr>
            </a:pPr>
            <a:r>
              <a:t>03</a:t>
            </a:r>
          </a:p>
        </p:txBody>
      </p:sp>
      <p:sp>
        <p:nvSpPr>
          <p:cNvPr id="13" name="TextBox 12"/>
          <p:cNvSpPr txBox="1"/>
          <p:nvPr/>
        </p:nvSpPr>
        <p:spPr>
          <a:xfrm>
            <a:off x="2103120" y="4892040"/>
            <a:ext cx="8961120" cy="548640"/>
          </a:xfrm>
          <a:prstGeom prst="rect">
            <a:avLst/>
          </a:prstGeom>
          <a:noFill/>
          <a:effectLst/>
        </p:spPr>
        <p:txBody>
          <a:bodyPr wrap="square" lIns="0" tIns="0" rIns="0" bIns="0">
            <a:spAutoFit/>
          </a:bodyPr>
          <a:lstStyle/>
          <a:p>
            <a:pPr algn="l">
              <a:spcAft>
                <a:spcPts val="0"/>
              </a:spcAft>
              <a:defRPr sz="2200" b="1">
                <a:solidFill>
                  <a:srgbClr val="111827"/>
                </a:solidFill>
                <a:latin typeface="Arial"/>
              </a:defRPr>
            </a:pPr>
            <a:r>
              <a:t>Rule 3: Core cues can evolve with testing, grounded in consistency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Conclusion: Distinctive Clues in Daily Life</a:t>
            </a:r>
          </a:p>
        </p:txBody>
      </p:sp>
      <p:sp>
        <p:nvSpPr>
          <p:cNvPr id="3" name="TextBox 2"/>
          <p:cNvSpPr txBox="1"/>
          <p:nvPr/>
        </p:nvSpPr>
        <p:spPr>
          <a:xfrm>
            <a:off x="731520" y="6291072"/>
            <a:ext cx="5029200" cy="347472"/>
          </a:xfrm>
          <a:prstGeom prst="rect">
            <a:avLst/>
          </a:prstGeom>
          <a:noFill/>
          <a:effectLst/>
        </p:spPr>
        <p:txBody>
          <a:bodyPr wrap="square" lIns="0" tIns="0" rIns="0" bIns="0">
            <a:spAutoFit/>
          </a:bodyPr>
          <a:lstStyle/>
          <a:p>
            <a:pPr algn="l">
              <a:spcAft>
                <a:spcPts val="0"/>
              </a:spcAft>
              <a:defRPr sz="1100" b="0">
                <a:solidFill>
                  <a:srgbClr val="6B7280"/>
                </a:solidFill>
                <a:latin typeface="Arial"/>
              </a:defRPr>
            </a:pPr>
            <a:r>
              <a:t>Sources: [S1]</a:t>
            </a:r>
          </a:p>
        </p:txBody>
      </p:sp>
      <p:sp>
        <p:nvSpPr>
          <p:cNvPr id="4" name="TextBox 3"/>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20 of 25</a:t>
            </a:r>
          </a:p>
        </p:txBody>
      </p:sp>
      <p:sp>
        <p:nvSpPr>
          <p:cNvPr id="5" name="TextBox 4"/>
          <p:cNvSpPr txBox="1"/>
          <p:nvPr/>
        </p:nvSpPr>
        <p:spPr>
          <a:xfrm>
            <a:off x="914400" y="2011680"/>
            <a:ext cx="365760" cy="1005840"/>
          </a:xfrm>
          <a:prstGeom prst="rect">
            <a:avLst/>
          </a:prstGeom>
          <a:noFill/>
          <a:effectLst/>
        </p:spPr>
        <p:txBody>
          <a:bodyPr wrap="square" lIns="0" tIns="0" rIns="0" bIns="0">
            <a:spAutoFit/>
          </a:bodyPr>
          <a:lstStyle/>
          <a:p>
            <a:pPr algn="l">
              <a:spcAft>
                <a:spcPts val="0"/>
              </a:spcAft>
              <a:defRPr sz="2800" b="1">
                <a:solidFill>
                  <a:srgbClr val="2563EB"/>
                </a:solidFill>
                <a:latin typeface="Arial"/>
              </a:defRPr>
            </a:pPr>
            <a:r>
              <a:t>•</a:t>
            </a:r>
          </a:p>
        </p:txBody>
      </p:sp>
      <p:sp>
        <p:nvSpPr>
          <p:cNvPr id="6" name="TextBox 5"/>
          <p:cNvSpPr txBox="1"/>
          <p:nvPr/>
        </p:nvSpPr>
        <p:spPr>
          <a:xfrm>
            <a:off x="1371600" y="2048256"/>
            <a:ext cx="9905695" cy="1005840"/>
          </a:xfrm>
          <a:prstGeom prst="rect">
            <a:avLst/>
          </a:prstGeom>
          <a:noFill/>
          <a:effectLst/>
        </p:spPr>
        <p:txBody>
          <a:bodyPr wrap="square" lIns="0" tIns="0" rIns="0" bIns="0">
            <a:spAutoFit/>
          </a:bodyPr>
          <a:lstStyle/>
          <a:p>
            <a:pPr algn="l">
              <a:spcAft>
                <a:spcPts val="0"/>
              </a:spcAft>
              <a:defRPr sz="2400" b="1">
                <a:solidFill>
                  <a:srgbClr val="111827"/>
                </a:solidFill>
                <a:latin typeface="Arial"/>
              </a:defRPr>
            </a:pPr>
            <a:r>
              <a:t>Logos confirm a brand, but visual clues guide discovery</a:t>
            </a:r>
          </a:p>
        </p:txBody>
      </p:sp>
      <p:sp>
        <p:nvSpPr>
          <p:cNvPr id="7" name="TextBox 6"/>
          <p:cNvSpPr txBox="1"/>
          <p:nvPr/>
        </p:nvSpPr>
        <p:spPr>
          <a:xfrm>
            <a:off x="914400" y="3291840"/>
            <a:ext cx="365760" cy="1005840"/>
          </a:xfrm>
          <a:prstGeom prst="rect">
            <a:avLst/>
          </a:prstGeom>
          <a:noFill/>
          <a:effectLst/>
        </p:spPr>
        <p:txBody>
          <a:bodyPr wrap="square" lIns="0" tIns="0" rIns="0" bIns="0">
            <a:spAutoFit/>
          </a:bodyPr>
          <a:lstStyle/>
          <a:p>
            <a:pPr algn="l">
              <a:spcAft>
                <a:spcPts val="0"/>
              </a:spcAft>
              <a:defRPr sz="2800" b="1">
                <a:solidFill>
                  <a:srgbClr val="2563EB"/>
                </a:solidFill>
                <a:latin typeface="Arial"/>
              </a:defRPr>
            </a:pPr>
            <a:r>
              <a:t>•</a:t>
            </a:r>
          </a:p>
        </p:txBody>
      </p:sp>
      <p:sp>
        <p:nvSpPr>
          <p:cNvPr id="8" name="TextBox 7"/>
          <p:cNvSpPr txBox="1"/>
          <p:nvPr/>
        </p:nvSpPr>
        <p:spPr>
          <a:xfrm>
            <a:off x="1371600" y="3328416"/>
            <a:ext cx="9905695" cy="1005840"/>
          </a:xfrm>
          <a:prstGeom prst="rect">
            <a:avLst/>
          </a:prstGeom>
          <a:noFill/>
          <a:effectLst/>
        </p:spPr>
        <p:txBody>
          <a:bodyPr wrap="square" lIns="0" tIns="0" rIns="0" bIns="0">
            <a:spAutoFit/>
          </a:bodyPr>
          <a:lstStyle/>
          <a:p>
            <a:pPr algn="l">
              <a:spcAft>
                <a:spcPts val="0"/>
              </a:spcAft>
              <a:defRPr sz="2400" b="1">
                <a:solidFill>
                  <a:srgbClr val="111827"/>
                </a:solidFill>
                <a:latin typeface="Arial"/>
              </a:defRPr>
            </a:pPr>
            <a:r>
              <a:t>Packaging and colors help shoppers spot products quickly</a:t>
            </a:r>
          </a:p>
        </p:txBody>
      </p:sp>
      <p:sp>
        <p:nvSpPr>
          <p:cNvPr id="9" name="TextBox 8"/>
          <p:cNvSpPr txBox="1"/>
          <p:nvPr/>
        </p:nvSpPr>
        <p:spPr>
          <a:xfrm>
            <a:off x="914400" y="4572000"/>
            <a:ext cx="365760" cy="1005840"/>
          </a:xfrm>
          <a:prstGeom prst="rect">
            <a:avLst/>
          </a:prstGeom>
          <a:noFill/>
          <a:effectLst/>
        </p:spPr>
        <p:txBody>
          <a:bodyPr wrap="square" lIns="0" tIns="0" rIns="0" bIns="0">
            <a:spAutoFit/>
          </a:bodyPr>
          <a:lstStyle/>
          <a:p>
            <a:pPr algn="l">
              <a:spcAft>
                <a:spcPts val="0"/>
              </a:spcAft>
              <a:defRPr sz="2800" b="1">
                <a:solidFill>
                  <a:srgbClr val="2563EB"/>
                </a:solidFill>
                <a:latin typeface="Arial"/>
              </a:defRPr>
            </a:pPr>
            <a:r>
              <a:t>•</a:t>
            </a:r>
          </a:p>
        </p:txBody>
      </p:sp>
      <p:sp>
        <p:nvSpPr>
          <p:cNvPr id="10" name="TextBox 9"/>
          <p:cNvSpPr txBox="1"/>
          <p:nvPr/>
        </p:nvSpPr>
        <p:spPr>
          <a:xfrm>
            <a:off x="1371600" y="4608576"/>
            <a:ext cx="9905695" cy="1005840"/>
          </a:xfrm>
          <a:prstGeom prst="rect">
            <a:avLst/>
          </a:prstGeom>
          <a:noFill/>
          <a:effectLst/>
        </p:spPr>
        <p:txBody>
          <a:bodyPr wrap="square" lIns="0" tIns="0" rIns="0" bIns="0">
            <a:spAutoFit/>
          </a:bodyPr>
          <a:lstStyle/>
          <a:p>
            <a:pPr algn="l">
              <a:spcAft>
                <a:spcPts val="0"/>
              </a:spcAft>
              <a:defRPr sz="2400" b="1">
                <a:solidFill>
                  <a:srgbClr val="111827"/>
                </a:solidFill>
                <a:latin typeface="Arial"/>
              </a:defRPr>
            </a:pPr>
            <a:r>
              <a:t>Recognition grows through patient consistency and daily familiarity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21 of 25</a:t>
            </a:r>
          </a:p>
        </p:txBody>
      </p:sp>
      <p:sp>
        <p:nvSpPr>
          <p:cNvPr id="3" name="TextBox 2"/>
          <p:cNvSpPr txBox="1"/>
          <p:nvPr/>
        </p:nvSpPr>
        <p:spPr>
          <a:xfrm>
            <a:off x="914400" y="1828800"/>
            <a:ext cx="10362895" cy="1463040"/>
          </a:xfrm>
          <a:prstGeom prst="rect">
            <a:avLst/>
          </a:prstGeom>
          <a:noFill/>
          <a:effectLst/>
        </p:spPr>
        <p:txBody>
          <a:bodyPr wrap="square" lIns="0" tIns="0" rIns="0" bIns="0">
            <a:spAutoFit/>
          </a:bodyPr>
          <a:lstStyle/>
          <a:p>
            <a:pPr algn="l">
              <a:spcAft>
                <a:spcPts val="1000"/>
              </a:spcAft>
              <a:defRPr sz="4200" b="1">
                <a:solidFill>
                  <a:srgbClr val="111827"/>
                </a:solidFill>
                <a:latin typeface="Arial"/>
              </a:defRPr>
            </a:pPr>
            <a:r>
              <a:t>Thanks for Listening to Us!</a:t>
            </a:r>
          </a:p>
          <a:p>
            <a:pPr algn="l">
              <a:spcAft>
                <a:spcPts val="1800"/>
              </a:spcAft>
              <a:defRPr sz="2400" b="0">
                <a:solidFill>
                  <a:srgbClr val="4B5563"/>
                </a:solidFill>
                <a:latin typeface="Arial"/>
              </a:defRPr>
            </a:pPr>
            <a:r>
              <a:t>Any questions or observations?</a:t>
            </a:r>
          </a:p>
        </p:txBody>
      </p:sp>
      <p:sp>
        <p:nvSpPr>
          <p:cNvPr id="4" name="Rectangle 3"/>
          <p:cNvSpPr/>
          <p:nvPr/>
        </p:nvSpPr>
        <p:spPr>
          <a:xfrm>
            <a:off x="914400" y="3749039"/>
            <a:ext cx="1645920" cy="109728"/>
          </a:xfrm>
          <a:prstGeom prst="rect">
            <a:avLst/>
          </a:prstGeom>
          <a:solidFill>
            <a:srgbClr val="DA291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2560320" y="3749039"/>
            <a:ext cx="1645920" cy="109728"/>
          </a:xfrm>
          <a:prstGeom prst="rect">
            <a:avLst/>
          </a:prstGeom>
          <a:solidFill>
            <a:srgbClr val="FFC7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4206240" y="3749039"/>
            <a:ext cx="1645920" cy="109728"/>
          </a:xfrm>
          <a:prstGeom prst="rect">
            <a:avLst/>
          </a:prstGeom>
          <a:solidFill>
            <a:srgbClr val="81D8D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0" y="3749039"/>
            <a:ext cx="1645920" cy="109728"/>
          </a:xfrm>
          <a:prstGeom prst="rect">
            <a:avLst/>
          </a:prstGeom>
          <a:solidFill>
            <a:srgbClr val="0058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914400" y="4206240"/>
            <a:ext cx="9144000" cy="320040"/>
          </a:xfrm>
          <a:prstGeom prst="rect">
            <a:avLst/>
          </a:prstGeom>
          <a:noFill/>
          <a:effectLst/>
        </p:spPr>
        <p:txBody>
          <a:bodyPr wrap="square" lIns="0" tIns="0" rIns="0" bIns="0">
            <a:spAutoFit/>
          </a:bodyPr>
          <a:lstStyle/>
          <a:p>
            <a:pPr algn="l">
              <a:spcAft>
                <a:spcPts val="0"/>
              </a:spcAft>
              <a:defRPr sz="1400" b="0">
                <a:solidFill>
                  <a:srgbClr val="6B7280"/>
                </a:solidFill>
                <a:latin typeface="Arial"/>
              </a:defRPr>
            </a:pPr>
            <a:r>
              <a:t>Presented by</a:t>
            </a:r>
          </a:p>
        </p:txBody>
      </p:sp>
      <p:sp>
        <p:nvSpPr>
          <p:cNvPr id="9" name="TextBox 8"/>
          <p:cNvSpPr txBox="1"/>
          <p:nvPr/>
        </p:nvSpPr>
        <p:spPr>
          <a:xfrm>
            <a:off x="914400" y="4572000"/>
            <a:ext cx="9144000" cy="548640"/>
          </a:xfrm>
          <a:prstGeom prst="rect">
            <a:avLst/>
          </a:prstGeom>
          <a:noFill/>
          <a:effectLst/>
        </p:spPr>
        <p:txBody>
          <a:bodyPr wrap="square" lIns="0" tIns="0" rIns="0" bIns="0">
            <a:spAutoFit/>
          </a:bodyPr>
          <a:lstStyle/>
          <a:p>
            <a:pPr algn="l">
              <a:spcAft>
                <a:spcPts val="0"/>
              </a:spcAft>
              <a:defRPr sz="2800" b="1">
                <a:solidFill>
                  <a:srgbClr val="111827"/>
                </a:solidFill>
                <a:latin typeface="Arial"/>
              </a:defRPr>
            </a:pPr>
            <a:r>
              <a:t>Kaan Yazıcıoğlu &amp; Caner Akcasu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References: Research Studies and Corporate Archives</a:t>
            </a:r>
          </a:p>
        </p:txBody>
      </p:sp>
      <p:sp>
        <p:nvSpPr>
          <p:cNvPr id="3" name="TextBox 2"/>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22 of 25</a:t>
            </a:r>
          </a:p>
        </p:txBody>
      </p:sp>
      <p:sp>
        <p:nvSpPr>
          <p:cNvPr id="4" name="TextBox 3"/>
          <p:cNvSpPr txBox="1"/>
          <p:nvPr/>
        </p:nvSpPr>
        <p:spPr>
          <a:xfrm>
            <a:off x="731520" y="1691640"/>
            <a:ext cx="5212080" cy="4389120"/>
          </a:xfrm>
          <a:prstGeom prst="rect">
            <a:avLst/>
          </a:prstGeom>
          <a:noFill/>
          <a:effectLst/>
        </p:spPr>
        <p:txBody>
          <a:bodyPr wrap="square" lIns="0" tIns="0" rIns="0" bIns="0">
            <a:spAutoFit/>
          </a:bodyPr>
          <a:lstStyle/>
          <a:p>
            <a:pPr>
              <a:spcAft>
                <a:spcPts val="200"/>
              </a:spcAft>
              <a:defRPr sz="1800" b="1" u="sng">
                <a:solidFill>
                  <a:srgbClr val="2563EB"/>
                </a:solidFill>
                <a:latin typeface="Arial"/>
              </a:defRPr>
            </a:pPr>
            <a:r>
              <a:rPr sz="1800" b="1" u="sng">
                <a:solidFill>
                  <a:srgbClr val="2563EB"/>
                </a:solidFill>
                <a:latin typeface="Arial"/>
                <a:hlinkClick r:id="rId2"/>
              </a:rPr>
              <a:t>[S1] Brand differentiation research</a:t>
            </a:r>
          </a:p>
          <a:p>
            <a:pPr>
              <a:spcAft>
                <a:spcPts val="1400"/>
              </a:spcAft>
              <a:defRPr sz="1800" b="0">
                <a:solidFill>
                  <a:srgbClr val="4B5563"/>
                </a:solidFill>
                <a:latin typeface="Arial"/>
              </a:defRPr>
            </a:pPr>
            <a:r>
              <a:t>Australasian Marketing Journal / Ehrenberg-Bass Institute for Marketing Science</a:t>
            </a:r>
          </a:p>
          <a:p>
            <a:pPr>
              <a:spcAft>
                <a:spcPts val="200"/>
              </a:spcAft>
              <a:defRPr sz="1800" b="1" u="sng">
                <a:solidFill>
                  <a:srgbClr val="2563EB"/>
                </a:solidFill>
                <a:latin typeface="Arial"/>
              </a:defRPr>
            </a:pPr>
            <a:r>
              <a:rPr sz="1800" b="1" u="sng">
                <a:solidFill>
                  <a:srgbClr val="2563EB"/>
                </a:solidFill>
                <a:latin typeface="Arial"/>
                <a:hlinkClick r:id="rId3"/>
              </a:rPr>
              <a:t>[S2] Seven Costly Sins of Brand Identity</a:t>
            </a:r>
          </a:p>
          <a:p>
            <a:pPr>
              <a:spcAft>
                <a:spcPts val="1400"/>
              </a:spcAft>
              <a:defRPr sz="1800" b="0">
                <a:solidFill>
                  <a:srgbClr val="4B5563"/>
                </a:solidFill>
                <a:latin typeface="Arial"/>
              </a:defRPr>
            </a:pPr>
            <a:r>
              <a:t>Ehrenberg-Bass Institute for Marketing Science</a:t>
            </a:r>
          </a:p>
          <a:p>
            <a:pPr>
              <a:spcAft>
                <a:spcPts val="200"/>
              </a:spcAft>
              <a:defRPr sz="1800" b="1" u="sng">
                <a:solidFill>
                  <a:srgbClr val="2563EB"/>
                </a:solidFill>
                <a:latin typeface="Arial"/>
              </a:defRPr>
            </a:pPr>
            <a:r>
              <a:rPr sz="1800" b="1" u="sng">
                <a:solidFill>
                  <a:srgbClr val="2563EB"/>
                </a:solidFill>
                <a:latin typeface="Arial"/>
                <a:hlinkClick r:id="rId4"/>
              </a:rPr>
              <a:t>[S3] Brands of Distinction</a:t>
            </a:r>
          </a:p>
          <a:p>
            <a:pPr>
              <a:spcAft>
                <a:spcPts val="1400"/>
              </a:spcAft>
              <a:defRPr sz="1800" b="0">
                <a:solidFill>
                  <a:srgbClr val="4B5563"/>
                </a:solidFill>
                <a:latin typeface="Arial"/>
              </a:defRPr>
            </a:pPr>
            <a:r>
              <a:t>Ehrenberg-Bass Institute for Marketing Science / UniSA Business Magazine</a:t>
            </a:r>
          </a:p>
        </p:txBody>
      </p:sp>
      <p:sp>
        <p:nvSpPr>
          <p:cNvPr id="5" name="TextBox 4"/>
          <p:cNvSpPr txBox="1"/>
          <p:nvPr/>
        </p:nvSpPr>
        <p:spPr>
          <a:xfrm>
            <a:off x="6217920" y="1691640"/>
            <a:ext cx="5212080" cy="4389120"/>
          </a:xfrm>
          <a:prstGeom prst="rect">
            <a:avLst/>
          </a:prstGeom>
          <a:noFill/>
          <a:effectLst/>
        </p:spPr>
        <p:txBody>
          <a:bodyPr wrap="square" lIns="0" tIns="0" rIns="0" bIns="0">
            <a:spAutoFit/>
          </a:bodyPr>
          <a:lstStyle/>
          <a:p>
            <a:pPr>
              <a:spcAft>
                <a:spcPts val="200"/>
              </a:spcAft>
              <a:defRPr sz="1800" b="1" u="sng">
                <a:solidFill>
                  <a:srgbClr val="2563EB"/>
                </a:solidFill>
                <a:latin typeface="Arial"/>
              </a:defRPr>
            </a:pPr>
            <a:r>
              <a:rPr sz="1800" b="1" u="sng">
                <a:solidFill>
                  <a:srgbClr val="2563EB"/>
                </a:solidFill>
                <a:latin typeface="Arial"/>
                <a:hlinkClick r:id="rId5"/>
              </a:rPr>
              <a:t>[S4] The Coca-Cola Contour Bottle</a:t>
            </a:r>
          </a:p>
          <a:p>
            <a:pPr>
              <a:spcAft>
                <a:spcPts val="1400"/>
              </a:spcAft>
              <a:defRPr sz="1800" b="0">
                <a:solidFill>
                  <a:srgbClr val="4B5563"/>
                </a:solidFill>
                <a:latin typeface="Arial"/>
              </a:defRPr>
            </a:pPr>
            <a:r>
              <a:t>The Coca-Cola Company</a:t>
            </a:r>
          </a:p>
          <a:p>
            <a:pPr>
              <a:spcAft>
                <a:spcPts val="200"/>
              </a:spcAft>
              <a:defRPr sz="1800" b="1" u="sng">
                <a:solidFill>
                  <a:srgbClr val="2563EB"/>
                </a:solidFill>
                <a:latin typeface="Arial"/>
              </a:defRPr>
            </a:pPr>
            <a:r>
              <a:rPr sz="1800" b="1" u="sng">
                <a:solidFill>
                  <a:srgbClr val="2563EB"/>
                </a:solidFill>
                <a:latin typeface="Arial"/>
                <a:hlinkClick r:id="rId6"/>
              </a:rPr>
              <a:t>[S5] Tiffany Blue</a:t>
            </a:r>
          </a:p>
          <a:p>
            <a:pPr>
              <a:spcAft>
                <a:spcPts val="1400"/>
              </a:spcAft>
              <a:defRPr sz="1800" b="0">
                <a:solidFill>
                  <a:srgbClr val="4B5563"/>
                </a:solidFill>
                <a:latin typeface="Arial"/>
              </a:defRPr>
            </a:pPr>
            <a:r>
              <a:t>Tiffany &amp; Co.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References: Museum Archives, News and Agency Records</a:t>
            </a:r>
          </a:p>
        </p:txBody>
      </p:sp>
      <p:sp>
        <p:nvSpPr>
          <p:cNvPr id="3" name="TextBox 2"/>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23 of 25</a:t>
            </a:r>
          </a:p>
        </p:txBody>
      </p:sp>
      <p:sp>
        <p:nvSpPr>
          <p:cNvPr id="4" name="TextBox 3"/>
          <p:cNvSpPr txBox="1"/>
          <p:nvPr/>
        </p:nvSpPr>
        <p:spPr>
          <a:xfrm>
            <a:off x="731520" y="1691640"/>
            <a:ext cx="5212080" cy="4389120"/>
          </a:xfrm>
          <a:prstGeom prst="rect">
            <a:avLst/>
          </a:prstGeom>
          <a:noFill/>
          <a:effectLst/>
        </p:spPr>
        <p:txBody>
          <a:bodyPr wrap="square" lIns="0" tIns="0" rIns="0" bIns="0">
            <a:spAutoFit/>
          </a:bodyPr>
          <a:lstStyle/>
          <a:p>
            <a:pPr>
              <a:spcAft>
                <a:spcPts val="200"/>
              </a:spcAft>
              <a:defRPr sz="1800" b="1" u="sng">
                <a:solidFill>
                  <a:srgbClr val="2563EB"/>
                </a:solidFill>
                <a:latin typeface="Arial"/>
              </a:defRPr>
            </a:pPr>
            <a:r>
              <a:rPr sz="1800" b="1" u="sng">
                <a:solidFill>
                  <a:srgbClr val="2563EB"/>
                </a:solidFill>
                <a:latin typeface="Arial"/>
                <a:hlinkClick r:id="rId2"/>
              </a:rPr>
              <a:t>[S6] History of the IKEA Logotype</a:t>
            </a:r>
          </a:p>
          <a:p>
            <a:pPr>
              <a:spcAft>
                <a:spcPts val="1400"/>
              </a:spcAft>
              <a:defRPr sz="1800" b="0">
                <a:solidFill>
                  <a:srgbClr val="4B5563"/>
                </a:solidFill>
                <a:latin typeface="Arial"/>
              </a:defRPr>
            </a:pPr>
            <a:r>
              <a:t>IKEA Museum / Inter IKEA Systems B.V.</a:t>
            </a:r>
          </a:p>
          <a:p>
            <a:pPr>
              <a:spcAft>
                <a:spcPts val="200"/>
              </a:spcAft>
              <a:defRPr sz="1800" b="1" u="sng">
                <a:solidFill>
                  <a:srgbClr val="2563EB"/>
                </a:solidFill>
                <a:latin typeface="Arial"/>
              </a:defRPr>
            </a:pPr>
            <a:r>
              <a:rPr sz="1800" b="1" u="sng">
                <a:solidFill>
                  <a:srgbClr val="2563EB"/>
                </a:solidFill>
                <a:latin typeface="Arial"/>
                <a:hlinkClick r:id="rId3"/>
              </a:rPr>
              <a:t>[S7] The Story of FRAKTA</a:t>
            </a:r>
          </a:p>
          <a:p>
            <a:pPr>
              <a:spcAft>
                <a:spcPts val="1400"/>
              </a:spcAft>
              <a:defRPr sz="1800" b="0">
                <a:solidFill>
                  <a:srgbClr val="4B5563"/>
                </a:solidFill>
                <a:latin typeface="Arial"/>
              </a:defRPr>
            </a:pPr>
            <a:r>
              <a:t>IKEA Museum / Inter IKEA Systems B.V.</a:t>
            </a:r>
          </a:p>
        </p:txBody>
      </p:sp>
      <p:sp>
        <p:nvSpPr>
          <p:cNvPr id="5" name="TextBox 4"/>
          <p:cNvSpPr txBox="1"/>
          <p:nvPr/>
        </p:nvSpPr>
        <p:spPr>
          <a:xfrm>
            <a:off x="6217920" y="1691640"/>
            <a:ext cx="5212080" cy="4389120"/>
          </a:xfrm>
          <a:prstGeom prst="rect">
            <a:avLst/>
          </a:prstGeom>
          <a:noFill/>
          <a:effectLst/>
        </p:spPr>
        <p:txBody>
          <a:bodyPr wrap="square" lIns="0" tIns="0" rIns="0" bIns="0">
            <a:spAutoFit/>
          </a:bodyPr>
          <a:lstStyle/>
          <a:p>
            <a:pPr>
              <a:spcAft>
                <a:spcPts val="200"/>
              </a:spcAft>
              <a:defRPr sz="1800" b="1" u="sng">
                <a:solidFill>
                  <a:srgbClr val="2563EB"/>
                </a:solidFill>
                <a:latin typeface="Arial"/>
              </a:defRPr>
            </a:pPr>
            <a:r>
              <a:rPr sz="1800" b="1" u="sng">
                <a:solidFill>
                  <a:srgbClr val="2563EB"/>
                </a:solidFill>
                <a:latin typeface="Arial"/>
                <a:hlinkClick r:id="rId4"/>
              </a:rPr>
              <a:t>[S8] McDonald’s Green Backgrounds</a:t>
            </a:r>
          </a:p>
          <a:p>
            <a:pPr>
              <a:spcAft>
                <a:spcPts val="1400"/>
              </a:spcAft>
              <a:defRPr sz="1800" b="0">
                <a:solidFill>
                  <a:srgbClr val="4B5563"/>
                </a:solidFill>
                <a:latin typeface="Arial"/>
              </a:defRPr>
            </a:pPr>
            <a:r>
              <a:t>NBC News / The Associated Press</a:t>
            </a:r>
          </a:p>
          <a:p>
            <a:pPr>
              <a:spcAft>
                <a:spcPts val="200"/>
              </a:spcAft>
              <a:defRPr sz="1800" b="1" u="sng">
                <a:solidFill>
                  <a:srgbClr val="2563EB"/>
                </a:solidFill>
                <a:latin typeface="Arial"/>
              </a:defRPr>
            </a:pPr>
            <a:r>
              <a:rPr sz="1800" b="1" u="sng">
                <a:solidFill>
                  <a:srgbClr val="2563EB"/>
                </a:solidFill>
                <a:latin typeface="Arial"/>
                <a:hlinkClick r:id="rId5"/>
              </a:rPr>
              <a:t>[S9] Follow the Arches</a:t>
            </a:r>
          </a:p>
          <a:p>
            <a:pPr>
              <a:spcAft>
                <a:spcPts val="1400"/>
              </a:spcAft>
              <a:defRPr sz="1800" b="0">
                <a:solidFill>
                  <a:srgbClr val="4B5563"/>
                </a:solidFill>
                <a:latin typeface="Arial"/>
              </a:defRPr>
            </a:pPr>
            <a:r>
              <a:t>Cossette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Appendix: Image Credits and Attributions (Part 1)</a:t>
            </a:r>
          </a:p>
        </p:txBody>
      </p:sp>
      <p:sp>
        <p:nvSpPr>
          <p:cNvPr id="3" name="TextBox 2"/>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24 of 25</a:t>
            </a:r>
          </a:p>
        </p:txBody>
      </p:sp>
      <p:sp>
        <p:nvSpPr>
          <p:cNvPr id="4" name="TextBox 3"/>
          <p:cNvSpPr txBox="1"/>
          <p:nvPr/>
        </p:nvSpPr>
        <p:spPr>
          <a:xfrm>
            <a:off x="731520" y="1691640"/>
            <a:ext cx="5212080" cy="4389120"/>
          </a:xfrm>
          <a:prstGeom prst="rect">
            <a:avLst/>
          </a:prstGeom>
          <a:noFill/>
          <a:effectLst/>
        </p:spPr>
        <p:txBody>
          <a:bodyPr wrap="square" lIns="0" tIns="0" rIns="0" bIns="0">
            <a:spAutoFit/>
          </a:bodyPr>
          <a:lstStyle/>
          <a:p>
            <a:pPr>
              <a:spcAft>
                <a:spcPts val="200"/>
              </a:spcAft>
              <a:defRPr sz="1800" b="1">
                <a:solidFill>
                  <a:srgbClr val="111827"/>
                </a:solidFill>
                <a:latin typeface="Arial"/>
              </a:defRPr>
            </a:pPr>
            <a:r>
              <a:rPr sz="1800" b="1">
                <a:solidFill>
                  <a:srgbClr val="111827"/>
                </a:solidFill>
                <a:latin typeface="Arial"/>
              </a:rPr>
              <a:t>McDonald's French Fries in Red Carton</a:t>
            </a:r>
          </a:p>
          <a:p>
            <a:pPr>
              <a:spcAft>
                <a:spcPts val="200"/>
              </a:spcAft>
              <a:defRPr sz="1800" b="0">
                <a:solidFill>
                  <a:srgbClr val="4B5563"/>
                </a:solidFill>
                <a:latin typeface="Arial"/>
              </a:defRPr>
            </a:pPr>
            <a:r>
              <a:rPr sz="1800" b="0">
                <a:solidFill>
                  <a:srgbClr val="4B5563"/>
                </a:solidFill>
                <a:latin typeface="Arial"/>
              </a:rPr>
              <a:t>Creator: Filippos Fragkogiannis</a:t>
            </a:r>
          </a:p>
          <a:p>
            <a:pPr>
              <a:spcAft>
                <a:spcPts val="200"/>
              </a:spcAft>
              <a:defRPr sz="1800" b="0">
                <a:solidFill>
                  <a:srgbClr val="4B5563"/>
                </a:solidFill>
                <a:latin typeface="Arial"/>
              </a:defRPr>
            </a:pPr>
            <a:r>
              <a:rPr sz="1800" b="0">
                <a:solidFill>
                  <a:srgbClr val="4B5563"/>
                </a:solidFill>
                <a:latin typeface="Arial"/>
              </a:rPr>
              <a:t>License: CC BY-SA 4.0</a:t>
            </a:r>
          </a:p>
          <a:p>
            <a:pPr>
              <a:spcAft>
                <a:spcPts val="1600"/>
              </a:spcAft>
            </a:pPr>
            <a:r>
              <a:rPr sz="1800" b="1" u="sng">
                <a:solidFill>
                  <a:srgbClr val="2563EB"/>
                </a:solidFill>
                <a:latin typeface="Arial"/>
                <a:hlinkClick r:id="rId2"/>
              </a:rPr>
              <a:t>Source</a:t>
            </a:r>
            <a:r>
              <a:rPr sz="1800" b="0" u="none">
                <a:solidFill>
                  <a:srgbClr val="6B7280"/>
                </a:solidFill>
                <a:latin typeface="Arial"/>
              </a:rPr>
              <a:t>   ·   </a:t>
            </a:r>
            <a:r>
              <a:rPr sz="1800" b="1" u="sng">
                <a:solidFill>
                  <a:srgbClr val="2563EB"/>
                </a:solidFill>
                <a:latin typeface="Arial"/>
                <a:hlinkClick r:id="rId3"/>
              </a:rPr>
              <a:t>License</a:t>
            </a:r>
          </a:p>
          <a:p>
            <a:pPr>
              <a:spcAft>
                <a:spcPts val="200"/>
              </a:spcAft>
              <a:defRPr sz="1800" b="1">
                <a:solidFill>
                  <a:srgbClr val="111827"/>
                </a:solidFill>
                <a:latin typeface="Arial"/>
              </a:defRPr>
            </a:pPr>
            <a:r>
              <a:rPr sz="1800" b="1">
                <a:solidFill>
                  <a:srgbClr val="111827"/>
                </a:solidFill>
                <a:latin typeface="Arial"/>
              </a:rPr>
              <a:t>McDonald's 'Follow the Arches' Billboard</a:t>
            </a:r>
          </a:p>
          <a:p>
            <a:pPr>
              <a:spcAft>
                <a:spcPts val="200"/>
              </a:spcAft>
              <a:defRPr sz="1800" b="0">
                <a:solidFill>
                  <a:srgbClr val="4B5563"/>
                </a:solidFill>
                <a:latin typeface="Arial"/>
              </a:defRPr>
            </a:pPr>
            <a:r>
              <a:rPr sz="1800" b="0">
                <a:solidFill>
                  <a:srgbClr val="4B5563"/>
                </a:solidFill>
                <a:latin typeface="Arial"/>
              </a:rPr>
              <a:t>Creator: Cossette / McDonald's Restaurants of Canada Limited</a:t>
            </a:r>
          </a:p>
          <a:p>
            <a:pPr>
              <a:spcAft>
                <a:spcPts val="200"/>
              </a:spcAft>
              <a:defRPr sz="1800" b="0">
                <a:solidFill>
                  <a:srgbClr val="4B5563"/>
                </a:solidFill>
                <a:latin typeface="Arial"/>
              </a:defRPr>
            </a:pPr>
            <a:r>
              <a:rPr sz="1800" b="0">
                <a:solidFill>
                  <a:srgbClr val="4B5563"/>
                </a:solidFill>
                <a:latin typeface="Arial"/>
              </a:rPr>
              <a:t>License: Copyrighted; no reuse license stated; included for classroom commentary</a:t>
            </a:r>
          </a:p>
          <a:p>
            <a:pPr>
              <a:spcAft>
                <a:spcPts val="1600"/>
              </a:spcAft>
            </a:pPr>
            <a:r>
              <a:rPr sz="1800" b="1" u="sng">
                <a:solidFill>
                  <a:srgbClr val="2563EB"/>
                </a:solidFill>
                <a:latin typeface="Arial"/>
                <a:hlinkClick r:id="rId4"/>
              </a:rPr>
              <a:t>Source / rights information</a:t>
            </a:r>
          </a:p>
        </p:txBody>
      </p:sp>
      <p:sp>
        <p:nvSpPr>
          <p:cNvPr id="5" name="TextBox 4"/>
          <p:cNvSpPr txBox="1"/>
          <p:nvPr/>
        </p:nvSpPr>
        <p:spPr>
          <a:xfrm>
            <a:off x="6217920" y="1691640"/>
            <a:ext cx="5212080" cy="4389120"/>
          </a:xfrm>
          <a:prstGeom prst="rect">
            <a:avLst/>
          </a:prstGeom>
          <a:noFill/>
          <a:effectLst/>
        </p:spPr>
        <p:txBody>
          <a:bodyPr wrap="square" lIns="0" tIns="0" rIns="0" bIns="0">
            <a:spAutoFit/>
          </a:bodyPr>
          <a:lstStyle/>
          <a:p>
            <a:pPr>
              <a:spcAft>
                <a:spcPts val="200"/>
              </a:spcAft>
              <a:defRPr sz="1800" b="1">
                <a:solidFill>
                  <a:srgbClr val="111827"/>
                </a:solidFill>
                <a:latin typeface="Arial"/>
              </a:defRPr>
            </a:pPr>
            <a:r>
              <a:rPr sz="1800" b="1">
                <a:solidFill>
                  <a:srgbClr val="111827"/>
                </a:solidFill>
                <a:latin typeface="Arial"/>
              </a:rPr>
              <a:t>Coca-Cola Classic Contour Bottle</a:t>
            </a:r>
          </a:p>
          <a:p>
            <a:pPr>
              <a:spcAft>
                <a:spcPts val="200"/>
              </a:spcAft>
              <a:defRPr sz="1800" b="0">
                <a:solidFill>
                  <a:srgbClr val="4B5563"/>
                </a:solidFill>
                <a:latin typeface="Arial"/>
              </a:defRPr>
            </a:pPr>
            <a:r>
              <a:rPr sz="1800" b="0">
                <a:solidFill>
                  <a:srgbClr val="4B5563"/>
                </a:solidFill>
                <a:latin typeface="Arial"/>
              </a:rPr>
              <a:t>Creator: Ralf Roletschek</a:t>
            </a:r>
          </a:p>
          <a:p>
            <a:pPr>
              <a:spcAft>
                <a:spcPts val="200"/>
              </a:spcAft>
              <a:defRPr sz="1800" b="0">
                <a:solidFill>
                  <a:srgbClr val="4B5563"/>
                </a:solidFill>
                <a:latin typeface="Arial"/>
              </a:defRPr>
            </a:pPr>
            <a:r>
              <a:rPr sz="1800" b="0">
                <a:solidFill>
                  <a:srgbClr val="4B5563"/>
                </a:solidFill>
                <a:latin typeface="Arial"/>
              </a:rPr>
              <a:t>License: Public domain</a:t>
            </a:r>
          </a:p>
          <a:p>
            <a:pPr>
              <a:spcAft>
                <a:spcPts val="1600"/>
              </a:spcAft>
            </a:pPr>
            <a:r>
              <a:rPr sz="1800" b="1" u="sng">
                <a:solidFill>
                  <a:srgbClr val="2563EB"/>
                </a:solidFill>
                <a:latin typeface="Arial"/>
                <a:hlinkClick r:id="rId5"/>
              </a:rPr>
              <a:t>Source</a:t>
            </a:r>
            <a:r>
              <a:rPr sz="1800" b="0" u="none">
                <a:solidFill>
                  <a:srgbClr val="6B7280"/>
                </a:solidFill>
                <a:latin typeface="Arial"/>
              </a:rPr>
              <a:t>   ·   </a:t>
            </a:r>
            <a:r>
              <a:rPr sz="1800" b="1" u="sng">
                <a:solidFill>
                  <a:srgbClr val="2563EB"/>
                </a:solidFill>
                <a:latin typeface="Arial"/>
                <a:hlinkClick r:id="rId5"/>
              </a:rPr>
              <a:t>Rights information</a:t>
            </a:r>
          </a:p>
          <a:p>
            <a:pPr>
              <a:spcAft>
                <a:spcPts val="200"/>
              </a:spcAft>
              <a:defRPr sz="1800" b="1">
                <a:solidFill>
                  <a:srgbClr val="111827"/>
                </a:solidFill>
                <a:latin typeface="Arial"/>
              </a:defRPr>
            </a:pPr>
            <a:r>
              <a:rPr sz="1800" b="1">
                <a:solidFill>
                  <a:srgbClr val="111827"/>
                </a:solidFill>
                <a:latin typeface="Arial"/>
              </a:rPr>
              <a:t>1915 Coca-Cola Contour Bottle Patent Drawing</a:t>
            </a:r>
          </a:p>
          <a:p>
            <a:pPr>
              <a:spcAft>
                <a:spcPts val="200"/>
              </a:spcAft>
              <a:defRPr sz="1800" b="0">
                <a:solidFill>
                  <a:srgbClr val="4B5563"/>
                </a:solidFill>
                <a:latin typeface="Arial"/>
              </a:defRPr>
            </a:pPr>
            <a:r>
              <a:rPr sz="1800" b="0">
                <a:solidFill>
                  <a:srgbClr val="4B5563"/>
                </a:solidFill>
                <a:latin typeface="Arial"/>
              </a:rPr>
              <a:t>Creator: Alexander Samuelson / Chapman J. Root / US Patent Office</a:t>
            </a:r>
          </a:p>
          <a:p>
            <a:pPr>
              <a:spcAft>
                <a:spcPts val="200"/>
              </a:spcAft>
              <a:defRPr sz="1800" b="0">
                <a:solidFill>
                  <a:srgbClr val="4B5563"/>
                </a:solidFill>
                <a:latin typeface="Arial"/>
              </a:defRPr>
            </a:pPr>
            <a:r>
              <a:rPr sz="1800" b="0">
                <a:solidFill>
                  <a:srgbClr val="4B5563"/>
                </a:solidFill>
                <a:latin typeface="Arial"/>
              </a:rPr>
              <a:t>License: Public domain</a:t>
            </a:r>
          </a:p>
          <a:p>
            <a:pPr>
              <a:spcAft>
                <a:spcPts val="1600"/>
              </a:spcAft>
            </a:pPr>
            <a:r>
              <a:rPr sz="1800" b="1" u="sng">
                <a:solidFill>
                  <a:srgbClr val="2563EB"/>
                </a:solidFill>
                <a:latin typeface="Arial"/>
                <a:hlinkClick r:id="rId6"/>
              </a:rPr>
              <a:t>Source</a:t>
            </a:r>
            <a:r>
              <a:rPr sz="1800" b="0" u="none">
                <a:solidFill>
                  <a:srgbClr val="6B7280"/>
                </a:solidFill>
                <a:latin typeface="Arial"/>
              </a:rPr>
              <a:t>   ·   </a:t>
            </a:r>
            <a:r>
              <a:rPr sz="1800" b="1" u="sng">
                <a:solidFill>
                  <a:srgbClr val="2563EB"/>
                </a:solidFill>
                <a:latin typeface="Arial"/>
                <a:hlinkClick r:id="rId6"/>
              </a:rPr>
              <a:t>Rights information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728655" cy="914400"/>
          </a:xfrm>
          <a:prstGeom prst="rect">
            <a:avLst/>
          </a:prstGeom>
          <a:noFill/>
          <a:effectLst/>
        </p:spPr>
        <p:txBody>
          <a:bodyPr wrap="square" lIns="0" tIns="0" rIns="0" bIns="0">
            <a:spAutoFit/>
          </a:bodyPr>
          <a:lstStyle/>
          <a:p>
            <a:pPr algn="l">
              <a:spcAft>
                <a:spcPts val="0"/>
              </a:spcAft>
              <a:defRPr sz="3400" b="1">
                <a:solidFill>
                  <a:srgbClr val="111827"/>
                </a:solidFill>
                <a:latin typeface="Arial"/>
              </a:defRPr>
            </a:pPr>
            <a:r>
              <a:t>Appendix: Image Credits and Attributions (Part 2)</a:t>
            </a:r>
          </a:p>
        </p:txBody>
      </p:sp>
      <p:sp>
        <p:nvSpPr>
          <p:cNvPr id="3" name="TextBox 2"/>
          <p:cNvSpPr txBox="1"/>
          <p:nvPr/>
        </p:nvSpPr>
        <p:spPr>
          <a:xfrm>
            <a:off x="6400800" y="6217920"/>
            <a:ext cx="5059375" cy="438912"/>
          </a:xfrm>
          <a:prstGeom prst="rect">
            <a:avLst/>
          </a:prstGeom>
          <a:noFill/>
          <a:effectLst/>
        </p:spPr>
        <p:txBody>
          <a:bodyPr wrap="square" lIns="0" tIns="0" rIns="0" bIns="0">
            <a:spAutoFit/>
          </a:bodyPr>
          <a:lstStyle/>
          <a:p>
            <a:pPr algn="r">
              <a:spcAft>
                <a:spcPts val="0"/>
              </a:spcAft>
              <a:defRPr sz="1400" b="1">
                <a:solidFill>
                  <a:srgbClr val="4B5563"/>
                </a:solidFill>
                <a:latin typeface="Arial"/>
              </a:defRPr>
            </a:pPr>
            <a:r>
              <a:t>Beyond the Logo · Slide 25 of 25</a:t>
            </a:r>
          </a:p>
        </p:txBody>
      </p:sp>
      <p:sp>
        <p:nvSpPr>
          <p:cNvPr id="4" name="TextBox 3"/>
          <p:cNvSpPr txBox="1"/>
          <p:nvPr/>
        </p:nvSpPr>
        <p:spPr>
          <a:xfrm>
            <a:off x="731520" y="1691640"/>
            <a:ext cx="5212080" cy="4389120"/>
          </a:xfrm>
          <a:prstGeom prst="rect">
            <a:avLst/>
          </a:prstGeom>
          <a:noFill/>
          <a:effectLst/>
        </p:spPr>
        <p:txBody>
          <a:bodyPr wrap="square" lIns="0" tIns="0" rIns="0" bIns="0">
            <a:spAutoFit/>
          </a:bodyPr>
          <a:lstStyle/>
          <a:p>
            <a:pPr>
              <a:spcAft>
                <a:spcPts val="200"/>
              </a:spcAft>
              <a:defRPr sz="1800" b="1">
                <a:solidFill>
                  <a:srgbClr val="111827"/>
                </a:solidFill>
                <a:latin typeface="Arial"/>
              </a:defRPr>
            </a:pPr>
            <a:r>
              <a:rPr sz="1800" b="1">
                <a:solidFill>
                  <a:srgbClr val="111827"/>
                </a:solidFill>
                <a:latin typeface="Arial"/>
              </a:rPr>
              <a:t>Tiffany &amp; Co. Blue Gift Box</a:t>
            </a:r>
          </a:p>
          <a:p>
            <a:pPr>
              <a:spcAft>
                <a:spcPts val="200"/>
              </a:spcAft>
              <a:defRPr sz="1800" b="0">
                <a:solidFill>
                  <a:srgbClr val="4B5563"/>
                </a:solidFill>
                <a:latin typeface="Arial"/>
              </a:defRPr>
            </a:pPr>
            <a:r>
              <a:rPr sz="1800" b="0">
                <a:solidFill>
                  <a:srgbClr val="4B5563"/>
                </a:solidFill>
                <a:latin typeface="Arial"/>
              </a:rPr>
              <a:t>Creator: Adriana Górak</a:t>
            </a:r>
          </a:p>
          <a:p>
            <a:pPr>
              <a:spcAft>
                <a:spcPts val="200"/>
              </a:spcAft>
              <a:defRPr sz="1800" b="0">
                <a:solidFill>
                  <a:srgbClr val="4B5563"/>
                </a:solidFill>
                <a:latin typeface="Arial"/>
              </a:defRPr>
            </a:pPr>
            <a:r>
              <a:rPr sz="1800" b="0">
                <a:solidFill>
                  <a:srgbClr val="4B5563"/>
                </a:solidFill>
                <a:latin typeface="Arial"/>
              </a:rPr>
              <a:t>License: CC BY-SA 3.0</a:t>
            </a:r>
          </a:p>
          <a:p>
            <a:pPr>
              <a:spcAft>
                <a:spcPts val="1600"/>
              </a:spcAft>
            </a:pPr>
            <a:r>
              <a:rPr sz="1800" b="1" u="sng">
                <a:solidFill>
                  <a:srgbClr val="2563EB"/>
                </a:solidFill>
                <a:latin typeface="Arial"/>
                <a:hlinkClick r:id="rId2"/>
              </a:rPr>
              <a:t>Source</a:t>
            </a:r>
            <a:r>
              <a:rPr sz="1800" b="0" u="none">
                <a:solidFill>
                  <a:srgbClr val="6B7280"/>
                </a:solidFill>
                <a:latin typeface="Arial"/>
              </a:rPr>
              <a:t>   ·   </a:t>
            </a:r>
            <a:r>
              <a:rPr sz="1800" b="1" u="sng">
                <a:solidFill>
                  <a:srgbClr val="2563EB"/>
                </a:solidFill>
                <a:latin typeface="Arial"/>
                <a:hlinkClick r:id="rId3"/>
              </a:rPr>
              <a:t>License</a:t>
            </a:r>
          </a:p>
          <a:p>
            <a:pPr>
              <a:spcAft>
                <a:spcPts val="200"/>
              </a:spcAft>
              <a:defRPr sz="1800" b="1">
                <a:solidFill>
                  <a:srgbClr val="111827"/>
                </a:solidFill>
                <a:latin typeface="Arial"/>
              </a:defRPr>
            </a:pPr>
            <a:r>
              <a:rPr sz="1800" b="1">
                <a:solidFill>
                  <a:srgbClr val="111827"/>
                </a:solidFill>
                <a:latin typeface="Arial"/>
              </a:rPr>
              <a:t>IKEA Warehouse Store Exterior</a:t>
            </a:r>
          </a:p>
          <a:p>
            <a:pPr>
              <a:spcAft>
                <a:spcPts val="200"/>
              </a:spcAft>
              <a:defRPr sz="1800" b="0">
                <a:solidFill>
                  <a:srgbClr val="4B5563"/>
                </a:solidFill>
                <a:latin typeface="Arial"/>
              </a:defRPr>
            </a:pPr>
            <a:r>
              <a:rPr sz="1800" b="0">
                <a:solidFill>
                  <a:srgbClr val="4B5563"/>
                </a:solidFill>
                <a:latin typeface="Arial"/>
              </a:rPr>
              <a:t>Creator: Ben MacLeod</a:t>
            </a:r>
          </a:p>
          <a:p>
            <a:pPr>
              <a:spcAft>
                <a:spcPts val="200"/>
              </a:spcAft>
              <a:defRPr sz="1800" b="0">
                <a:solidFill>
                  <a:srgbClr val="4B5563"/>
                </a:solidFill>
                <a:latin typeface="Arial"/>
              </a:defRPr>
            </a:pPr>
            <a:r>
              <a:rPr sz="1800" b="0">
                <a:solidFill>
                  <a:srgbClr val="4B5563"/>
                </a:solidFill>
                <a:latin typeface="Arial"/>
              </a:rPr>
              <a:t>License: CC BY-SA 4.0</a:t>
            </a:r>
          </a:p>
          <a:p>
            <a:pPr>
              <a:spcAft>
                <a:spcPts val="1600"/>
              </a:spcAft>
            </a:pPr>
            <a:r>
              <a:rPr sz="1800" b="1" u="sng">
                <a:solidFill>
                  <a:srgbClr val="2563EB"/>
                </a:solidFill>
                <a:latin typeface="Arial"/>
                <a:hlinkClick r:id="rId4"/>
              </a:rPr>
              <a:t>Source</a:t>
            </a:r>
            <a:r>
              <a:rPr sz="1800" b="0" u="none">
                <a:solidFill>
                  <a:srgbClr val="6B7280"/>
                </a:solidFill>
                <a:latin typeface="Arial"/>
              </a:rPr>
              <a:t>   ·   </a:t>
            </a:r>
            <a:r>
              <a:rPr sz="1800" b="1" u="sng">
                <a:solidFill>
                  <a:srgbClr val="2563EB"/>
                </a:solidFill>
                <a:latin typeface="Arial"/>
                <a:hlinkClick r:id="rId5"/>
              </a:rPr>
              <a:t>License</a:t>
            </a:r>
          </a:p>
        </p:txBody>
      </p:sp>
      <p:sp>
        <p:nvSpPr>
          <p:cNvPr id="5" name="TextBox 4"/>
          <p:cNvSpPr txBox="1"/>
          <p:nvPr/>
        </p:nvSpPr>
        <p:spPr>
          <a:xfrm>
            <a:off x="6217920" y="1691640"/>
            <a:ext cx="5212080" cy="4389120"/>
          </a:xfrm>
          <a:prstGeom prst="rect">
            <a:avLst/>
          </a:prstGeom>
          <a:noFill/>
          <a:effectLst/>
        </p:spPr>
        <p:txBody>
          <a:bodyPr wrap="square" lIns="0" tIns="0" rIns="0" bIns="0">
            <a:spAutoFit/>
          </a:bodyPr>
          <a:lstStyle/>
          <a:p>
            <a:pPr>
              <a:spcAft>
                <a:spcPts val="200"/>
              </a:spcAft>
              <a:defRPr sz="1800" b="1">
                <a:solidFill>
                  <a:srgbClr val="111827"/>
                </a:solidFill>
                <a:latin typeface="Arial"/>
              </a:defRPr>
            </a:pPr>
            <a:r>
              <a:rPr sz="1800" b="1">
                <a:solidFill>
                  <a:srgbClr val="111827"/>
                </a:solidFill>
                <a:latin typeface="Arial"/>
              </a:rPr>
              <a:t>IKEA Blue FRAKTA Shopping Bag</a:t>
            </a:r>
          </a:p>
          <a:p>
            <a:pPr>
              <a:spcAft>
                <a:spcPts val="200"/>
              </a:spcAft>
              <a:defRPr sz="1800" b="0">
                <a:solidFill>
                  <a:srgbClr val="4B5563"/>
                </a:solidFill>
                <a:latin typeface="Arial"/>
              </a:defRPr>
            </a:pPr>
            <a:r>
              <a:rPr sz="1800" b="0">
                <a:solidFill>
                  <a:srgbClr val="4B5563"/>
                </a:solidFill>
                <a:latin typeface="Arial"/>
              </a:rPr>
              <a:t>Creator: Andrea014</a:t>
            </a:r>
          </a:p>
          <a:p>
            <a:pPr>
              <a:spcAft>
                <a:spcPts val="200"/>
              </a:spcAft>
              <a:defRPr sz="1800" b="0">
                <a:solidFill>
                  <a:srgbClr val="4B5563"/>
                </a:solidFill>
                <a:latin typeface="Arial"/>
              </a:defRPr>
            </a:pPr>
            <a:r>
              <a:rPr sz="1800" b="0">
                <a:solidFill>
                  <a:srgbClr val="4B5563"/>
                </a:solidFill>
                <a:latin typeface="Arial"/>
              </a:rPr>
              <a:t>License: CC BY-SA 3.0 de</a:t>
            </a:r>
          </a:p>
          <a:p>
            <a:pPr>
              <a:spcAft>
                <a:spcPts val="1600"/>
              </a:spcAft>
            </a:pPr>
            <a:r>
              <a:rPr sz="1800" b="1" u="sng">
                <a:solidFill>
                  <a:srgbClr val="2563EB"/>
                </a:solidFill>
                <a:latin typeface="Arial"/>
                <a:hlinkClick r:id="rId6"/>
              </a:rPr>
              <a:t>Source</a:t>
            </a:r>
            <a:r>
              <a:rPr sz="1800" b="0" u="none">
                <a:solidFill>
                  <a:srgbClr val="6B7280"/>
                </a:solidFill>
                <a:latin typeface="Arial"/>
              </a:rPr>
              <a:t>   ·   </a:t>
            </a:r>
            <a:r>
              <a:rPr sz="1800" b="1" u="sng">
                <a:solidFill>
                  <a:srgbClr val="2563EB"/>
                </a:solidFill>
                <a:latin typeface="Arial"/>
                <a:hlinkClick r:id="rId7"/>
              </a:rPr>
              <a:t>License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the Logo</dc:title>
  <dc:subject>Can we recognize a brand without its name?</dc:subject>
  <dc:creator>Kaan Yazıcıoğlu &amp; Caner Akcasu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